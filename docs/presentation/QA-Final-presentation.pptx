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71" r:id="rId7"/>
    <p:sldId id="267" r:id="rId8"/>
    <p:sldId id="268" r:id="rId9"/>
    <p:sldId id="270" r:id="rId10"/>
    <p:sldId id="269" r:id="rId11"/>
  </p:sldIdLst>
  <p:sldSz cx="18288000" cy="10287000"/>
  <p:notesSz cx="6858000" cy="9144000"/>
  <p:embeddedFontLst>
    <p:embeddedFont>
      <p:font typeface="Agrandir Tight" panose="020B0604020202020204" charset="0"/>
      <p:regular r:id="rId13"/>
    </p:embeddedFont>
    <p:embeddedFont>
      <p:font typeface="Aptos Bold" panose="020B0004020202020204" charset="0"/>
      <p:regular r:id="rId14"/>
    </p:embeddedFont>
    <p:embeddedFont>
      <p:font typeface="Archivo Narrow" panose="020B0604020202020204" charset="0"/>
      <p:regular r:id="rId15"/>
    </p:embeddedFont>
    <p:embeddedFont>
      <p:font typeface="Archivo Narrow Bold" panose="020B0604020202020204" charset="0"/>
      <p:regular r:id="rId16"/>
    </p:embeddedFont>
    <p:embeddedFont>
      <p:font typeface="Boston Angel" panose="020B0604020202020204" charset="0"/>
      <p:regular r:id="rId17"/>
    </p:embeddedFont>
    <p:embeddedFont>
      <p:font typeface="DM Sans" pitchFamily="2" charset="0"/>
      <p:regular r:id="rId18"/>
      <p:bold r:id="rId19"/>
      <p:italic r:id="rId20"/>
      <p:boldItalic r:id="rId21"/>
    </p:embeddedFont>
    <p:embeddedFont>
      <p:font typeface="DM Sans Bold" charset="0"/>
      <p:regular r:id="rId22"/>
    </p:embeddedFont>
    <p:embeddedFont>
      <p:font typeface="Georgia Bold" panose="02040802050405020203" pitchFamily="18" charset="0"/>
      <p:regular r:id="rId23"/>
      <p:bold r:id="rId24"/>
    </p:embeddedFont>
    <p:embeddedFont>
      <p:font typeface="Inter Medium" panose="020B0604020202020204" charset="0"/>
      <p:regular r:id="rId25"/>
    </p:embeddedFont>
    <p:embeddedFont>
      <p:font typeface="Tex Gyre Termes" panose="020B0604020202020204" charset="0"/>
      <p:regular r:id="rId26"/>
    </p:embeddedFont>
    <p:embeddedFont>
      <p:font typeface="Tex Gyre Termes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010" autoAdjust="0"/>
  </p:normalViewPr>
  <p:slideViewPr>
    <p:cSldViewPr>
      <p:cViewPr>
        <p:scale>
          <a:sx n="38" d="100"/>
          <a:sy n="38" d="100"/>
        </p:scale>
        <p:origin x="34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23/U/16852/EVE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36624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498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33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5191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457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8356478"/>
            <a:ext cx="18288000" cy="1935990"/>
          </a:xfrm>
          <a:custGeom>
            <a:avLst/>
            <a:gdLst/>
            <a:ahLst/>
            <a:cxnLst/>
            <a:rect l="l" t="t" r="r" b="b"/>
            <a:pathLst>
              <a:path w="18288000" h="1935990">
                <a:moveTo>
                  <a:pt x="0" y="0"/>
                </a:moveTo>
                <a:lnTo>
                  <a:pt x="18288000" y="0"/>
                </a:lnTo>
                <a:lnTo>
                  <a:pt x="18288000" y="1935991"/>
                </a:lnTo>
                <a:lnTo>
                  <a:pt x="0" y="19359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647065" y="6883654"/>
            <a:ext cx="10302890" cy="544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3"/>
              </a:lnSpc>
            </a:pPr>
            <a:r>
              <a:rPr lang="en-US" sz="3744">
                <a:solidFill>
                  <a:srgbClr val="0F356B"/>
                </a:solidFill>
                <a:latin typeface="DM Sans"/>
                <a:ea typeface="DM Sans"/>
                <a:cs typeface="DM Sans"/>
                <a:sym typeface="DM Sans"/>
              </a:rPr>
              <a:t>From requirements to reviewed test evidence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8234" y="8779910"/>
            <a:ext cx="2185979" cy="80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81"/>
              </a:lnSpc>
            </a:pPr>
            <a:r>
              <a:rPr lang="en-US" sz="5150">
                <a:solidFill>
                  <a:srgbClr val="0F1C33"/>
                </a:solidFill>
                <a:latin typeface="Boston Angel"/>
                <a:ea typeface="Boston Angel"/>
                <a:cs typeface="Boston Angel"/>
                <a:sym typeface="Boston Angel"/>
              </a:rPr>
              <a:t>Group 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96183" y="9104318"/>
            <a:ext cx="2217680" cy="285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>
                <a:solidFill>
                  <a:srgbClr val="0F1C33"/>
                </a:solidFill>
                <a:latin typeface="DM Sans"/>
                <a:ea typeface="DM Sans"/>
                <a:cs typeface="DM Sans"/>
                <a:sym typeface="DM Sans"/>
              </a:rPr>
              <a:t>Onyanga Ambrose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58667" y="9104318"/>
            <a:ext cx="2634687" cy="285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>
                <a:solidFill>
                  <a:srgbClr val="0F1C33"/>
                </a:solidFill>
                <a:latin typeface="DM Sans"/>
                <a:ea typeface="DM Sans"/>
                <a:cs typeface="DM Sans"/>
                <a:sym typeface="DM Sans"/>
              </a:rPr>
              <a:t>Byali Macqueline Leya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82543" y="9104318"/>
            <a:ext cx="2154973" cy="285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>
                <a:solidFill>
                  <a:srgbClr val="0F1C33"/>
                </a:solidFill>
                <a:latin typeface="DM Sans"/>
                <a:ea typeface="DM Sans"/>
                <a:cs typeface="DM Sans"/>
                <a:sym typeface="DM Sans"/>
              </a:rPr>
              <a:t>Angom Joyce Rita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05846" y="9104318"/>
            <a:ext cx="2611464" cy="285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dirty="0">
                <a:solidFill>
                  <a:srgbClr val="0F1C33"/>
                </a:solidFill>
                <a:latin typeface="DM Sans"/>
                <a:ea typeface="DM Sans"/>
                <a:cs typeface="DM Sans"/>
                <a:sym typeface="DM Sans"/>
              </a:rPr>
              <a:t>Nuwagaba Jerome Bill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058153" y="9104318"/>
            <a:ext cx="1528429" cy="285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dirty="0">
                <a:solidFill>
                  <a:srgbClr val="0F1C33"/>
                </a:solidFill>
                <a:latin typeface="DM Sans"/>
                <a:ea typeface="DM Sans"/>
                <a:cs typeface="DM Sans"/>
                <a:sym typeface="DM Sans"/>
              </a:rPr>
              <a:t>Okoth Victor</a:t>
            </a:r>
          </a:p>
        </p:txBody>
      </p:sp>
      <p:sp>
        <p:nvSpPr>
          <p:cNvPr id="11" name="Freeform 11"/>
          <p:cNvSpPr/>
          <p:nvPr/>
        </p:nvSpPr>
        <p:spPr>
          <a:xfrm>
            <a:off x="8268976" y="853148"/>
            <a:ext cx="9592450" cy="7087694"/>
          </a:xfrm>
          <a:custGeom>
            <a:avLst/>
            <a:gdLst/>
            <a:ahLst/>
            <a:cxnLst/>
            <a:rect l="l" t="t" r="r" b="b"/>
            <a:pathLst>
              <a:path w="9592450" h="7087694">
                <a:moveTo>
                  <a:pt x="0" y="0"/>
                </a:moveTo>
                <a:lnTo>
                  <a:pt x="9592450" y="0"/>
                </a:lnTo>
                <a:lnTo>
                  <a:pt x="9592450" y="7087694"/>
                </a:lnTo>
                <a:lnTo>
                  <a:pt x="0" y="70876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68763" y="1820125"/>
            <a:ext cx="8133082" cy="4871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12"/>
              </a:lnSpc>
            </a:pPr>
            <a:r>
              <a:rPr lang="en-US" sz="13452">
                <a:solidFill>
                  <a:srgbClr val="051A3F"/>
                </a:solidFill>
                <a:latin typeface="Boston Angel"/>
                <a:ea typeface="Boston Angel"/>
                <a:cs typeface="Boston Angel"/>
                <a:sym typeface="Boston Angel"/>
              </a:rPr>
              <a:t>Software Engineering QA Agent</a:t>
            </a:r>
          </a:p>
        </p:txBody>
      </p:sp>
      <p:sp>
        <p:nvSpPr>
          <p:cNvPr id="13" name="TextBox 13"/>
          <p:cNvSpPr txBox="1"/>
          <p:nvPr/>
        </p:nvSpPr>
        <p:spPr>
          <a:xfrm rot="643359">
            <a:off x="11099368" y="3487263"/>
            <a:ext cx="978009" cy="34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986">
                <a:solidFill>
                  <a:srgbClr val="0F356B"/>
                </a:solidFill>
                <a:latin typeface="Agrandir Tight"/>
                <a:ea typeface="Agrandir Tight"/>
                <a:cs typeface="Agrandir Tight"/>
                <a:sym typeface="Agrandir Tight"/>
              </a:rPr>
              <a:t>Test Case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F6FF75-61B2-D332-69E6-DD3A0695DA18}"/>
              </a:ext>
            </a:extLst>
          </p:cNvPr>
          <p:cNvSpPr txBox="1"/>
          <p:nvPr/>
        </p:nvSpPr>
        <p:spPr>
          <a:xfrm>
            <a:off x="3983691" y="9507864"/>
            <a:ext cx="221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23/U/16852/EVE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B5B7F8-7B0D-8E25-BAB6-96DA053E7214}"/>
              </a:ext>
            </a:extLst>
          </p:cNvPr>
          <p:cNvSpPr txBox="1"/>
          <p:nvPr/>
        </p:nvSpPr>
        <p:spPr>
          <a:xfrm>
            <a:off x="6647639" y="9507864"/>
            <a:ext cx="2019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23/U/06202/PS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0D3BC8-2BAF-AC68-C82D-397A2F30DCA3}"/>
              </a:ext>
            </a:extLst>
          </p:cNvPr>
          <p:cNvSpPr txBox="1"/>
          <p:nvPr/>
        </p:nvSpPr>
        <p:spPr>
          <a:xfrm>
            <a:off x="9758666" y="9488988"/>
            <a:ext cx="234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23/U/07849/EVE 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262DEC-5A54-3F42-6D49-B2B3365A4361}"/>
              </a:ext>
            </a:extLst>
          </p:cNvPr>
          <p:cNvSpPr txBox="1"/>
          <p:nvPr/>
        </p:nvSpPr>
        <p:spPr>
          <a:xfrm>
            <a:off x="12770995" y="9471911"/>
            <a:ext cx="234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23/U/16213/PS 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871F68-27F7-7708-C5FD-847897726B2F}"/>
              </a:ext>
            </a:extLst>
          </p:cNvPr>
          <p:cNvSpPr txBox="1"/>
          <p:nvPr/>
        </p:nvSpPr>
        <p:spPr>
          <a:xfrm>
            <a:off x="16058153" y="9507864"/>
            <a:ext cx="1803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23/U/1315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48800" y="0"/>
            <a:ext cx="9067800" cy="10096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8000"/>
            </a:blip>
            <a:stretch>
              <a:fillRect l="-104026" t="-2955" r="-2346" b="-106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940308" y="848047"/>
            <a:ext cx="7013057" cy="2342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3"/>
              </a:lnSpc>
            </a:pPr>
            <a:r>
              <a:rPr lang="en-US" sz="6349" dirty="0">
                <a:solidFill>
                  <a:srgbClr val="0B3154"/>
                </a:solidFill>
                <a:latin typeface="Boston Angel"/>
                <a:ea typeface="Boston Angel"/>
                <a:cs typeface="Boston Angel"/>
                <a:sym typeface="Boston Angel"/>
              </a:rPr>
              <a:t>Turning requirements into tests takes manual work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2500" y="5524500"/>
            <a:ext cx="5892819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60"/>
              </a:lnSpc>
              <a:spcBef>
                <a:spcPct val="0"/>
              </a:spcBef>
            </a:pPr>
            <a:r>
              <a:rPr lang="en-US" sz="2549" u="none" strike="noStrike" spc="-75" dirty="0">
                <a:solidFill>
                  <a:srgbClr val="0B3154"/>
                </a:solidFill>
                <a:latin typeface="Inter Medium"/>
                <a:ea typeface="Inter Medium"/>
                <a:cs typeface="Inter Medium"/>
                <a:sym typeface="Inter Medium"/>
              </a:rPr>
              <a:t>Who it helps</a:t>
            </a:r>
          </a:p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  <a:r>
              <a:rPr lang="en-US" sz="2250" u="none" strike="noStrike" spc="-67" dirty="0">
                <a:solidFill>
                  <a:srgbClr val="0B3154"/>
                </a:solidFill>
                <a:latin typeface="Inter Medium"/>
                <a:ea typeface="Inter Medium"/>
                <a:cs typeface="Inter Medium"/>
                <a:sym typeface="Inter Medium"/>
              </a:rPr>
              <a:t>Developers and QA engineers working on small software projects.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2500" y="7143750"/>
            <a:ext cx="6323903" cy="144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80"/>
              </a:lnSpc>
              <a:spcBef>
                <a:spcPct val="0"/>
              </a:spcBef>
            </a:pPr>
            <a:r>
              <a:rPr lang="en-US" sz="2649" u="none" strike="noStrike" spc="-78" dirty="0">
                <a:solidFill>
                  <a:srgbClr val="0B3154"/>
                </a:solidFill>
                <a:latin typeface="Inter Medium"/>
                <a:ea typeface="Inter Medium"/>
                <a:cs typeface="Inter Medium"/>
                <a:sym typeface="Inter Medium"/>
              </a:rPr>
              <a:t>Why AI</a:t>
            </a:r>
          </a:p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  <a:r>
              <a:rPr lang="en-US" sz="2250" u="none" strike="noStrike" spc="-67" dirty="0">
                <a:solidFill>
                  <a:srgbClr val="0B3154"/>
                </a:solidFill>
                <a:latin typeface="Inter Medium"/>
                <a:ea typeface="Inter Medium"/>
                <a:cs typeface="Inter Medium"/>
                <a:sym typeface="Inter Medium"/>
              </a:rPr>
              <a:t>It can interpret written requirements, propose candidate tests, and help explain failures. People review the tests and approve execution.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2500" y="3714750"/>
            <a:ext cx="5341416" cy="144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80"/>
              </a:lnSpc>
              <a:spcBef>
                <a:spcPct val="0"/>
              </a:spcBef>
            </a:pPr>
            <a:r>
              <a:rPr lang="en-US" sz="2649" u="none" strike="noStrike" spc="-78">
                <a:solidFill>
                  <a:srgbClr val="0B3154"/>
                </a:solidFill>
                <a:latin typeface="Inter Medium"/>
                <a:ea typeface="Inter Medium"/>
                <a:cs typeface="Inter Medium"/>
                <a:sym typeface="Inter Medium"/>
              </a:rPr>
              <a:t>The problem</a:t>
            </a:r>
          </a:p>
          <a:p>
            <a:pPr marL="0" lvl="0" indent="0" algn="l">
              <a:lnSpc>
                <a:spcPts val="2700"/>
              </a:lnSpc>
              <a:spcBef>
                <a:spcPct val="0"/>
              </a:spcBef>
            </a:pPr>
            <a:r>
              <a:rPr lang="en-US" sz="2250" u="none" strike="noStrike" spc="-67">
                <a:solidFill>
                  <a:srgbClr val="0B3154"/>
                </a:solidFill>
                <a:latin typeface="Inter Medium"/>
                <a:ea typeface="Inter Medium"/>
                <a:cs typeface="Inter Medium"/>
                <a:sym typeface="Inter Medium"/>
              </a:rPr>
              <a:t>Developers must translate requirements into tests, investigate failures, and keep results linked to the original requirements.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673749" y="868113"/>
            <a:ext cx="10313411" cy="2349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15"/>
              </a:lnSpc>
            </a:pPr>
            <a:r>
              <a:rPr lang="en-US" sz="9901" spc="-294">
                <a:solidFill>
                  <a:srgbClr val="0B3154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How the</a:t>
            </a:r>
          </a:p>
          <a:p>
            <a:pPr algn="l">
              <a:lnSpc>
                <a:spcPts val="8915"/>
              </a:lnSpc>
            </a:pPr>
            <a:r>
              <a:rPr lang="en-US" sz="9901" spc="-294">
                <a:solidFill>
                  <a:srgbClr val="0B3154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QA Agent developed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2434" y="3460274"/>
            <a:ext cx="8444923" cy="523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7"/>
              </a:lnSpc>
            </a:pPr>
            <a:r>
              <a:rPr lang="en-US" sz="3111" spc="-92">
                <a:solidFill>
                  <a:srgbClr val="0B3154"/>
                </a:solidFill>
                <a:latin typeface="DM Sans"/>
                <a:ea typeface="DM Sans"/>
                <a:cs typeface="DM Sans"/>
                <a:sym typeface="DM Sans"/>
              </a:rPr>
              <a:t>Five stages to build reliable, evidence-based QA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1584" y="5845730"/>
            <a:ext cx="1245533" cy="472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sz="3902" spc="-116">
                <a:solidFill>
                  <a:srgbClr val="0B3154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Model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8265" y="6506551"/>
            <a:ext cx="2577446" cy="1218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8" spc="-71">
                <a:solidFill>
                  <a:srgbClr val="0B3154"/>
                </a:solidFill>
                <a:latin typeface="DM Sans"/>
                <a:ea typeface="DM Sans"/>
                <a:cs typeface="DM Sans"/>
                <a:sym typeface="DM Sans"/>
              </a:rPr>
              <a:t>Propose candidate tests from written requirements.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02565" y="4976908"/>
            <a:ext cx="266410" cy="522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1"/>
              </a:lnSpc>
            </a:pPr>
            <a:r>
              <a:rPr lang="en-US" sz="4333" spc="-129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56390" y="5845730"/>
            <a:ext cx="1022729" cy="472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sz="3902" spc="-116">
                <a:solidFill>
                  <a:srgbClr val="0B3154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RAG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43591" y="6506551"/>
            <a:ext cx="2302668" cy="1628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8" spc="-71">
                <a:solidFill>
                  <a:srgbClr val="0B3154"/>
                </a:solidFill>
                <a:latin typeface="DM Sans"/>
                <a:ea typeface="DM Sans"/>
                <a:cs typeface="DM Sans"/>
                <a:sym typeface="DM Sans"/>
              </a:rPr>
              <a:t>Retrieve relevant project evidence to support answers.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8057" y="5845730"/>
            <a:ext cx="1077071" cy="472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sz="3902" spc="-116">
                <a:solidFill>
                  <a:srgbClr val="0B3154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Tools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42317" y="6516136"/>
            <a:ext cx="2651146" cy="1620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8"/>
              </a:lnSpc>
            </a:pPr>
            <a:r>
              <a:rPr lang="en-US" sz="2355" spc="-70">
                <a:solidFill>
                  <a:srgbClr val="0B3154"/>
                </a:solidFill>
                <a:latin typeface="DM Sans"/>
                <a:ea typeface="DM Sans"/>
                <a:cs typeface="DM Sans"/>
                <a:sym typeface="DM Sans"/>
              </a:rPr>
              <a:t>Retrieve evidence and prepare local issue drafts through approved functions.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15719" y="5845730"/>
            <a:ext cx="2853098" cy="472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sz="3902" spc="-116">
                <a:solidFill>
                  <a:srgbClr val="0B3154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Bounded agent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17742" y="6516153"/>
            <a:ext cx="2650769" cy="1210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320" spc="-69">
                <a:solidFill>
                  <a:srgbClr val="0B3154"/>
                </a:solidFill>
                <a:latin typeface="DM Sans"/>
                <a:ea typeface="DM Sans"/>
                <a:cs typeface="DM Sans"/>
                <a:sym typeface="DM Sans"/>
              </a:rPr>
              <a:t>Investigate reported failures within</a:t>
            </a:r>
          </a:p>
          <a:p>
            <a:pPr algn="l">
              <a:lnSpc>
                <a:spcPts val="3249"/>
              </a:lnSpc>
            </a:pPr>
            <a:r>
              <a:rPr lang="en-US" sz="2320" spc="-69">
                <a:solidFill>
                  <a:srgbClr val="0B3154"/>
                </a:solidFill>
                <a:latin typeface="DM Sans"/>
                <a:ea typeface="DM Sans"/>
                <a:cs typeface="DM Sans"/>
                <a:sym typeface="DM Sans"/>
              </a:rPr>
              <a:t>fixed limits.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33204" y="5845730"/>
            <a:ext cx="2041327" cy="472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sz="3902" spc="-116">
                <a:solidFill>
                  <a:srgbClr val="0B3154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Evaluation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30330" y="6506551"/>
            <a:ext cx="2328765" cy="2039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8" spc="-71">
                <a:solidFill>
                  <a:srgbClr val="0B3154"/>
                </a:solidFill>
                <a:latin typeface="DM Sans"/>
                <a:ea typeface="DM Sans"/>
                <a:cs typeface="DM Sans"/>
                <a:sym typeface="DM Sans"/>
              </a:rPr>
              <a:t>Check outcomes across normal, failure and adversarial scenarios.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25344" y="8961263"/>
            <a:ext cx="8285279" cy="427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1"/>
              </a:lnSpc>
            </a:pPr>
            <a:r>
              <a:rPr lang="en-US" sz="2592" b="1" spc="-77">
                <a:solidFill>
                  <a:srgbClr val="0B3154"/>
                </a:solidFill>
                <a:latin typeface="DM Sans Bold"/>
                <a:ea typeface="DM Sans Bold"/>
                <a:cs typeface="DM Sans Bold"/>
                <a:sym typeface="DM Sans Bold"/>
              </a:rPr>
              <a:t>People review</a:t>
            </a:r>
            <a:r>
              <a:rPr lang="en-US" sz="2592" spc="-77">
                <a:solidFill>
                  <a:srgbClr val="0B3154"/>
                </a:solidFill>
                <a:latin typeface="DM Sans"/>
                <a:ea typeface="DM Sans"/>
                <a:cs typeface="DM Sans"/>
                <a:sym typeface="DM Sans"/>
              </a:rPr>
              <a:t> generated tests and </a:t>
            </a:r>
            <a:r>
              <a:rPr lang="en-US" sz="2592" b="1" spc="-77">
                <a:solidFill>
                  <a:srgbClr val="0B3154"/>
                </a:solidFill>
                <a:latin typeface="DM Sans Bold"/>
                <a:ea typeface="DM Sans Bold"/>
                <a:cs typeface="DM Sans Bold"/>
                <a:sym typeface="DM Sans Bold"/>
              </a:rPr>
              <a:t>approve execution.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99831" y="4976908"/>
            <a:ext cx="266410" cy="522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1"/>
              </a:lnSpc>
            </a:pPr>
            <a:r>
              <a:rPr lang="en-US" sz="4333" spc="-129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04776" y="4976908"/>
            <a:ext cx="266410" cy="522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1"/>
              </a:lnSpc>
            </a:pPr>
            <a:r>
              <a:rPr lang="en-US" sz="4333" spc="-129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755620" y="4976908"/>
            <a:ext cx="266410" cy="522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1"/>
              </a:lnSpc>
            </a:pPr>
            <a:r>
              <a:rPr lang="en-US" sz="4333" spc="-129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9987" y="4976908"/>
            <a:ext cx="266410" cy="522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1"/>
              </a:lnSpc>
            </a:pPr>
            <a:r>
              <a:rPr lang="en-US" sz="4333" b="1" spc="-129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4937" y="467096"/>
            <a:ext cx="16681780" cy="962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1">
                <a:solidFill>
                  <a:srgbClr val="123957"/>
                </a:solidFill>
                <a:latin typeface="Georgia Bold"/>
                <a:ea typeface="Georgia Bold"/>
                <a:cs typeface="Georgia Bold"/>
                <a:sym typeface="Georgia Bold"/>
              </a:rPr>
              <a:t>How the QA Agent works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12457" y="1899342"/>
            <a:ext cx="12644790" cy="7211292"/>
            <a:chOff x="0" y="0"/>
            <a:chExt cx="16859720" cy="961505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59631" cy="9615043"/>
            </a:xfrm>
            <a:custGeom>
              <a:avLst/>
              <a:gdLst/>
              <a:ahLst/>
              <a:cxnLst/>
              <a:rect l="l" t="t" r="r" b="b"/>
              <a:pathLst>
                <a:path w="16859631" h="9615043">
                  <a:moveTo>
                    <a:pt x="0" y="1602486"/>
                  </a:moveTo>
                  <a:cubicBezTo>
                    <a:pt x="0" y="717423"/>
                    <a:pt x="717423" y="0"/>
                    <a:pt x="1602486" y="0"/>
                  </a:cubicBezTo>
                  <a:lnTo>
                    <a:pt x="15257145" y="0"/>
                  </a:lnTo>
                  <a:cubicBezTo>
                    <a:pt x="16142208" y="0"/>
                    <a:pt x="16859631" y="717423"/>
                    <a:pt x="16859631" y="1602486"/>
                  </a:cubicBezTo>
                  <a:lnTo>
                    <a:pt x="16859631" y="8012557"/>
                  </a:lnTo>
                  <a:cubicBezTo>
                    <a:pt x="16859631" y="8897620"/>
                    <a:pt x="16142208" y="9615043"/>
                    <a:pt x="15257145" y="9615043"/>
                  </a:cubicBezTo>
                  <a:lnTo>
                    <a:pt x="1602486" y="9615043"/>
                  </a:lnTo>
                  <a:cubicBezTo>
                    <a:pt x="717423" y="9615043"/>
                    <a:pt x="0" y="8897620"/>
                    <a:pt x="0" y="8012557"/>
                  </a:cubicBezTo>
                  <a:close/>
                </a:path>
              </a:pathLst>
            </a:custGeom>
            <a:solidFill>
              <a:srgbClr val="F3F9FF"/>
            </a:solidFill>
            <a:ln w="14299" cap="sq">
              <a:solidFill>
                <a:srgbClr val="A4CBE7"/>
              </a:solidFill>
              <a:prstDash val="solid"/>
              <a:miter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1344068" y="2507190"/>
            <a:ext cx="4766224" cy="428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1">
                <a:solidFill>
                  <a:srgbClr val="417CA8"/>
                </a:solidFill>
                <a:latin typeface="Aptos Bold"/>
                <a:ea typeface="Aptos Bold"/>
                <a:cs typeface="Aptos Bold"/>
                <a:sym typeface="Aptos Bold"/>
              </a:rPr>
              <a:t>LOCAL COMPUTER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43708" y="3136173"/>
            <a:ext cx="2783472" cy="2116207"/>
            <a:chOff x="0" y="0"/>
            <a:chExt cx="3711296" cy="28216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11321" cy="2821559"/>
            </a:xfrm>
            <a:custGeom>
              <a:avLst/>
              <a:gdLst/>
              <a:ahLst/>
              <a:cxnLst/>
              <a:rect l="l" t="t" r="r" b="b"/>
              <a:pathLst>
                <a:path w="3711321" h="2821559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3241040" y="0"/>
                  </a:lnTo>
                  <a:cubicBezTo>
                    <a:pt x="3500755" y="0"/>
                    <a:pt x="3711321" y="210566"/>
                    <a:pt x="3711321" y="470281"/>
                  </a:cubicBezTo>
                  <a:lnTo>
                    <a:pt x="3711321" y="2351278"/>
                  </a:lnTo>
                  <a:cubicBezTo>
                    <a:pt x="3711321" y="2610993"/>
                    <a:pt x="3500755" y="2821559"/>
                    <a:pt x="3241040" y="2821559"/>
                  </a:cubicBezTo>
                  <a:lnTo>
                    <a:pt x="470281" y="2821559"/>
                  </a:lnTo>
                  <a:cubicBezTo>
                    <a:pt x="210566" y="2821559"/>
                    <a:pt x="0" y="2610993"/>
                    <a:pt x="0" y="2351278"/>
                  </a:cubicBezTo>
                  <a:close/>
                </a:path>
              </a:pathLst>
            </a:custGeom>
            <a:solidFill>
              <a:srgbClr val="FFFEFA"/>
            </a:solidFill>
            <a:ln w="19065" cap="sq">
              <a:solidFill>
                <a:srgbClr val="A4CBE7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162955" y="3336360"/>
            <a:ext cx="2344979" cy="49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1">
                <a:solidFill>
                  <a:srgbClr val="123957"/>
                </a:solidFill>
                <a:latin typeface="Aptos Bold"/>
                <a:ea typeface="Aptos Bold"/>
                <a:cs typeface="Aptos Bold"/>
                <a:sym typeface="Aptos Bold"/>
              </a:rPr>
              <a:t>User interface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2955" y="3803456"/>
            <a:ext cx="2344979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1"/>
              </a:lnSpc>
              <a:spcBef>
                <a:spcPct val="0"/>
              </a:spcBef>
            </a:pPr>
            <a:r>
              <a:rPr lang="en-US" sz="2101" u="none" strike="noStrike">
                <a:solidFill>
                  <a:srgbClr val="123957"/>
                </a:solidFill>
                <a:latin typeface="Aptos"/>
                <a:ea typeface="Aptos"/>
                <a:cs typeface="Aptos"/>
                <a:sym typeface="Aptos"/>
              </a:rPr>
              <a:t>Requirements</a:t>
            </a:r>
          </a:p>
          <a:p>
            <a:pPr marL="0" lvl="0" indent="0" algn="l">
              <a:lnSpc>
                <a:spcPts val="2521"/>
              </a:lnSpc>
              <a:spcBef>
                <a:spcPct val="0"/>
              </a:spcBef>
            </a:pPr>
            <a:r>
              <a:rPr lang="en-US" sz="2101" u="none" strike="noStrike">
                <a:solidFill>
                  <a:srgbClr val="123957"/>
                </a:solidFill>
                <a:latin typeface="Aptos"/>
                <a:ea typeface="Aptos"/>
                <a:cs typeface="Aptos"/>
                <a:sym typeface="Aptos"/>
              </a:rPr>
              <a:t>Project code</a:t>
            </a:r>
          </a:p>
          <a:p>
            <a:pPr marL="0" lvl="0" indent="0" algn="l">
              <a:lnSpc>
                <a:spcPts val="2521"/>
              </a:lnSpc>
              <a:spcBef>
                <a:spcPct val="0"/>
              </a:spcBef>
            </a:pPr>
            <a:r>
              <a:rPr lang="en-US" sz="2101" u="none" strike="noStrike">
                <a:solidFill>
                  <a:srgbClr val="123957"/>
                </a:solidFill>
                <a:latin typeface="Aptos"/>
                <a:ea typeface="Aptos"/>
                <a:cs typeface="Aptos"/>
                <a:sym typeface="Aptos"/>
              </a:rPr>
              <a:t>Test review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042668" y="3136173"/>
            <a:ext cx="3546072" cy="2116207"/>
            <a:chOff x="0" y="0"/>
            <a:chExt cx="4728096" cy="28216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728083" cy="2821559"/>
            </a:xfrm>
            <a:custGeom>
              <a:avLst/>
              <a:gdLst/>
              <a:ahLst/>
              <a:cxnLst/>
              <a:rect l="l" t="t" r="r" b="b"/>
              <a:pathLst>
                <a:path w="4728083" h="2821559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4257802" y="0"/>
                  </a:lnTo>
                  <a:cubicBezTo>
                    <a:pt x="4517517" y="0"/>
                    <a:pt x="4728083" y="210566"/>
                    <a:pt x="4728083" y="470281"/>
                  </a:cubicBezTo>
                  <a:lnTo>
                    <a:pt x="4728083" y="2351278"/>
                  </a:lnTo>
                  <a:cubicBezTo>
                    <a:pt x="4728083" y="2610993"/>
                    <a:pt x="4517517" y="2821559"/>
                    <a:pt x="4257802" y="2821559"/>
                  </a:cubicBezTo>
                  <a:lnTo>
                    <a:pt x="470281" y="2821559"/>
                  </a:lnTo>
                  <a:cubicBezTo>
                    <a:pt x="210566" y="2821559"/>
                    <a:pt x="0" y="2610993"/>
                    <a:pt x="0" y="2351278"/>
                  </a:cubicBezTo>
                  <a:close/>
                </a:path>
              </a:pathLst>
            </a:custGeom>
            <a:solidFill>
              <a:srgbClr val="FFFEFA"/>
            </a:solidFill>
            <a:ln w="19065" cap="sq">
              <a:solidFill>
                <a:srgbClr val="A4CBE7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5261915" y="3336360"/>
            <a:ext cx="3107579" cy="49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1">
                <a:solidFill>
                  <a:srgbClr val="123957"/>
                </a:solidFill>
                <a:latin typeface="Aptos Bold"/>
                <a:ea typeface="Aptos Bold"/>
                <a:cs typeface="Aptos Bold"/>
                <a:sym typeface="Aptos Bold"/>
              </a:rPr>
              <a:t>Flask application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61915" y="3803456"/>
            <a:ext cx="3107579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1"/>
              </a:lnSpc>
              <a:spcBef>
                <a:spcPct val="0"/>
              </a:spcBef>
            </a:pPr>
            <a:r>
              <a:rPr lang="en-US" sz="2101" u="none" strike="noStrike">
                <a:solidFill>
                  <a:srgbClr val="123957"/>
                </a:solidFill>
                <a:latin typeface="Aptos"/>
                <a:ea typeface="Aptos"/>
                <a:cs typeface="Aptos"/>
                <a:sym typeface="Aptos"/>
              </a:rPr>
              <a:t>Workflow and triage</a:t>
            </a:r>
          </a:p>
          <a:p>
            <a:pPr marL="0" lvl="0" indent="0" algn="l">
              <a:lnSpc>
                <a:spcPts val="2521"/>
              </a:lnSpc>
              <a:spcBef>
                <a:spcPct val="0"/>
              </a:spcBef>
            </a:pPr>
            <a:r>
              <a:rPr lang="en-US" sz="2101" u="none" strike="noStrike">
                <a:solidFill>
                  <a:srgbClr val="123957"/>
                </a:solidFill>
                <a:latin typeface="Aptos"/>
                <a:ea typeface="Aptos"/>
                <a:cs typeface="Aptos"/>
                <a:sym typeface="Aptos"/>
              </a:rPr>
              <a:t>Permission checks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999536" y="3136173"/>
            <a:ext cx="2878798" cy="2116207"/>
            <a:chOff x="0" y="0"/>
            <a:chExt cx="3838397" cy="28216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38448" cy="2821559"/>
            </a:xfrm>
            <a:custGeom>
              <a:avLst/>
              <a:gdLst/>
              <a:ahLst/>
              <a:cxnLst/>
              <a:rect l="l" t="t" r="r" b="b"/>
              <a:pathLst>
                <a:path w="3838448" h="2821559">
                  <a:moveTo>
                    <a:pt x="0" y="470281"/>
                  </a:moveTo>
                  <a:cubicBezTo>
                    <a:pt x="0" y="210566"/>
                    <a:pt x="210566" y="0"/>
                    <a:pt x="470281" y="0"/>
                  </a:cubicBezTo>
                  <a:lnTo>
                    <a:pt x="3368167" y="0"/>
                  </a:lnTo>
                  <a:cubicBezTo>
                    <a:pt x="3627882" y="0"/>
                    <a:pt x="3838448" y="210566"/>
                    <a:pt x="3838448" y="470281"/>
                  </a:cubicBezTo>
                  <a:lnTo>
                    <a:pt x="3838448" y="2351278"/>
                  </a:lnTo>
                  <a:cubicBezTo>
                    <a:pt x="3838448" y="2610993"/>
                    <a:pt x="3627882" y="2821559"/>
                    <a:pt x="3368167" y="2821559"/>
                  </a:cubicBezTo>
                  <a:lnTo>
                    <a:pt x="470281" y="2821559"/>
                  </a:lnTo>
                  <a:cubicBezTo>
                    <a:pt x="210566" y="2821559"/>
                    <a:pt x="0" y="2610993"/>
                    <a:pt x="0" y="2351278"/>
                  </a:cubicBezTo>
                  <a:close/>
                </a:path>
              </a:pathLst>
            </a:custGeom>
            <a:solidFill>
              <a:srgbClr val="FFFEFA"/>
            </a:solidFill>
            <a:ln w="19065" cap="sq">
              <a:solidFill>
                <a:srgbClr val="A4CBE7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0218782" y="3336360"/>
            <a:ext cx="244030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2"/>
              </a:lnSpc>
              <a:spcBef>
                <a:spcPct val="0"/>
              </a:spcBef>
            </a:pPr>
            <a:r>
              <a:rPr lang="en-US" sz="2702" b="1" u="none" strike="noStrike">
                <a:solidFill>
                  <a:srgbClr val="123957"/>
                </a:solidFill>
                <a:latin typeface="Aptos Bold"/>
                <a:ea typeface="Aptos Bold"/>
                <a:cs typeface="Aptos Bold"/>
                <a:sym typeface="Aptos Bold"/>
              </a:rPr>
              <a:t>Project RAG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18782" y="3803456"/>
            <a:ext cx="2440305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1"/>
              </a:lnSpc>
              <a:spcBef>
                <a:spcPct val="0"/>
              </a:spcBef>
            </a:pPr>
            <a:r>
              <a:rPr lang="en-US" sz="2101" u="none" strike="noStrike">
                <a:solidFill>
                  <a:srgbClr val="123957"/>
                </a:solidFill>
                <a:latin typeface="Aptos"/>
                <a:ea typeface="Aptos"/>
                <a:cs typeface="Aptos"/>
                <a:sym typeface="Aptos"/>
              </a:rPr>
              <a:t>Project evidence</a:t>
            </a:r>
          </a:p>
          <a:p>
            <a:pPr marL="0" lvl="0" indent="0" algn="l">
              <a:lnSpc>
                <a:spcPts val="2521"/>
              </a:lnSpc>
              <a:spcBef>
                <a:spcPct val="0"/>
              </a:spcBef>
            </a:pPr>
            <a:r>
              <a:rPr lang="en-US" sz="2101" u="none" strike="noStrike">
                <a:solidFill>
                  <a:srgbClr val="123957"/>
                </a:solidFill>
                <a:latin typeface="Aptos"/>
                <a:ea typeface="Aptos"/>
                <a:cs typeface="Aptos"/>
                <a:sym typeface="Aptos"/>
              </a:rPr>
              <a:t>Relevant excerpts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042668" y="5805259"/>
            <a:ext cx="3546072" cy="1115292"/>
            <a:chOff x="0" y="0"/>
            <a:chExt cx="4728096" cy="148705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728210" cy="1487170"/>
            </a:xfrm>
            <a:custGeom>
              <a:avLst/>
              <a:gdLst/>
              <a:ahLst/>
              <a:cxnLst/>
              <a:rect l="l" t="t" r="r" b="b"/>
              <a:pathLst>
                <a:path w="4728210" h="1487170">
                  <a:moveTo>
                    <a:pt x="0" y="247904"/>
                  </a:moveTo>
                  <a:cubicBezTo>
                    <a:pt x="0" y="110998"/>
                    <a:pt x="110998" y="0"/>
                    <a:pt x="247904" y="0"/>
                  </a:cubicBezTo>
                  <a:lnTo>
                    <a:pt x="4480306" y="0"/>
                  </a:lnTo>
                  <a:cubicBezTo>
                    <a:pt x="4617212" y="0"/>
                    <a:pt x="4728210" y="110998"/>
                    <a:pt x="4728210" y="247904"/>
                  </a:cubicBezTo>
                  <a:lnTo>
                    <a:pt x="4728210" y="1239266"/>
                  </a:lnTo>
                  <a:cubicBezTo>
                    <a:pt x="4728210" y="1376172"/>
                    <a:pt x="4617212" y="1487170"/>
                    <a:pt x="4480306" y="1487170"/>
                  </a:cubicBezTo>
                  <a:lnTo>
                    <a:pt x="247904" y="1487170"/>
                  </a:lnTo>
                  <a:cubicBezTo>
                    <a:pt x="110998" y="1487043"/>
                    <a:pt x="0" y="1376045"/>
                    <a:pt x="0" y="1239266"/>
                  </a:cubicBezTo>
                  <a:close/>
                </a:path>
              </a:pathLst>
            </a:custGeom>
            <a:solidFill>
              <a:srgbClr val="FFF2D9"/>
            </a:solidFill>
            <a:ln w="19065" cap="sq">
              <a:solidFill>
                <a:srgbClr val="A4CBE7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5261915" y="6005446"/>
            <a:ext cx="3107579" cy="49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1">
                <a:solidFill>
                  <a:srgbClr val="123957"/>
                </a:solidFill>
                <a:latin typeface="Aptos Bold"/>
                <a:ea typeface="Aptos Bold"/>
                <a:cs typeface="Aptos Bold"/>
                <a:sym typeface="Aptos Bold"/>
              </a:rPr>
              <a:t>Human approval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61915" y="6472542"/>
            <a:ext cx="3107579" cy="362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23957"/>
                </a:solidFill>
                <a:latin typeface="Aptos"/>
                <a:ea typeface="Aptos"/>
                <a:cs typeface="Aptos"/>
                <a:sym typeface="Aptos"/>
              </a:rPr>
              <a:t>Review, approve and Run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43708" y="7092144"/>
            <a:ext cx="3164767" cy="1639576"/>
            <a:chOff x="0" y="0"/>
            <a:chExt cx="4219689" cy="218610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219702" cy="2186051"/>
            </a:xfrm>
            <a:custGeom>
              <a:avLst/>
              <a:gdLst/>
              <a:ahLst/>
              <a:cxnLst/>
              <a:rect l="l" t="t" r="r" b="b"/>
              <a:pathLst>
                <a:path w="4219702" h="2186051">
                  <a:moveTo>
                    <a:pt x="0" y="364363"/>
                  </a:moveTo>
                  <a:cubicBezTo>
                    <a:pt x="0" y="163068"/>
                    <a:pt x="163068" y="0"/>
                    <a:pt x="364363" y="0"/>
                  </a:cubicBezTo>
                  <a:lnTo>
                    <a:pt x="3855339" y="0"/>
                  </a:lnTo>
                  <a:cubicBezTo>
                    <a:pt x="4056507" y="0"/>
                    <a:pt x="4219702" y="163068"/>
                    <a:pt x="4219702" y="364363"/>
                  </a:cubicBezTo>
                  <a:lnTo>
                    <a:pt x="4219702" y="1821688"/>
                  </a:lnTo>
                  <a:cubicBezTo>
                    <a:pt x="4219702" y="2022856"/>
                    <a:pt x="4056634" y="2186051"/>
                    <a:pt x="3855339" y="2186051"/>
                  </a:cubicBezTo>
                  <a:lnTo>
                    <a:pt x="364363" y="2186051"/>
                  </a:lnTo>
                  <a:cubicBezTo>
                    <a:pt x="163068" y="2186051"/>
                    <a:pt x="0" y="2022983"/>
                    <a:pt x="0" y="1821688"/>
                  </a:cubicBezTo>
                  <a:close/>
                </a:path>
              </a:pathLst>
            </a:custGeom>
            <a:solidFill>
              <a:srgbClr val="FFFEFA"/>
            </a:solidFill>
            <a:ln w="19065" cap="sq">
              <a:solidFill>
                <a:srgbClr val="A4CBE7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162955" y="7292321"/>
            <a:ext cx="2726284" cy="49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1">
                <a:solidFill>
                  <a:srgbClr val="123957"/>
                </a:solidFill>
                <a:latin typeface="Aptos Bold"/>
                <a:ea typeface="Aptos Bold"/>
                <a:cs typeface="Aptos Bold"/>
                <a:sym typeface="Aptos Bold"/>
              </a:rPr>
              <a:t>Local storage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62955" y="7759417"/>
            <a:ext cx="2726284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1"/>
              </a:lnSpc>
              <a:spcBef>
                <a:spcPct val="0"/>
              </a:spcBef>
            </a:pPr>
            <a:r>
              <a:rPr lang="en-US" sz="2101" u="none" strike="noStrike">
                <a:solidFill>
                  <a:srgbClr val="123957"/>
                </a:solidFill>
                <a:latin typeface="Aptos"/>
                <a:ea typeface="Aptos"/>
                <a:cs typeface="Aptos"/>
                <a:sym typeface="Aptos"/>
              </a:rPr>
              <a:t>Results and reports</a:t>
            </a:r>
          </a:p>
          <a:p>
            <a:pPr marL="0" lvl="0" indent="0" algn="l">
              <a:lnSpc>
                <a:spcPts val="2521"/>
              </a:lnSpc>
              <a:spcBef>
                <a:spcPct val="0"/>
              </a:spcBef>
            </a:pPr>
            <a:r>
              <a:rPr lang="en-US" sz="2101" u="none" strike="noStrike">
                <a:solidFill>
                  <a:srgbClr val="123957"/>
                </a:solidFill>
                <a:latin typeface="Aptos"/>
                <a:ea typeface="Aptos"/>
                <a:cs typeface="Aptos"/>
                <a:sym typeface="Aptos"/>
              </a:rPr>
              <a:t>Traces and history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713566" y="7092144"/>
            <a:ext cx="3164767" cy="1639576"/>
            <a:chOff x="0" y="0"/>
            <a:chExt cx="4219689" cy="218610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219702" cy="2186051"/>
            </a:xfrm>
            <a:custGeom>
              <a:avLst/>
              <a:gdLst/>
              <a:ahLst/>
              <a:cxnLst/>
              <a:rect l="l" t="t" r="r" b="b"/>
              <a:pathLst>
                <a:path w="4219702" h="2186051">
                  <a:moveTo>
                    <a:pt x="0" y="364363"/>
                  </a:moveTo>
                  <a:cubicBezTo>
                    <a:pt x="0" y="163068"/>
                    <a:pt x="163068" y="0"/>
                    <a:pt x="364363" y="0"/>
                  </a:cubicBezTo>
                  <a:lnTo>
                    <a:pt x="3855339" y="0"/>
                  </a:lnTo>
                  <a:cubicBezTo>
                    <a:pt x="4056507" y="0"/>
                    <a:pt x="4219702" y="163068"/>
                    <a:pt x="4219702" y="364363"/>
                  </a:cubicBezTo>
                  <a:lnTo>
                    <a:pt x="4219702" y="1821688"/>
                  </a:lnTo>
                  <a:cubicBezTo>
                    <a:pt x="4219702" y="2022856"/>
                    <a:pt x="4056634" y="2186051"/>
                    <a:pt x="3855339" y="2186051"/>
                  </a:cubicBezTo>
                  <a:lnTo>
                    <a:pt x="364363" y="2186051"/>
                  </a:lnTo>
                  <a:cubicBezTo>
                    <a:pt x="163068" y="2186051"/>
                    <a:pt x="0" y="2022983"/>
                    <a:pt x="0" y="1821688"/>
                  </a:cubicBezTo>
                  <a:close/>
                </a:path>
              </a:pathLst>
            </a:custGeom>
            <a:solidFill>
              <a:srgbClr val="FFFEFA"/>
            </a:solidFill>
            <a:ln w="19065" cap="sq">
              <a:solidFill>
                <a:srgbClr val="A4CBE7"/>
              </a:solidFill>
              <a:prstDash val="solid"/>
              <a:miter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9932813" y="7292321"/>
            <a:ext cx="2726284" cy="49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1">
                <a:solidFill>
                  <a:srgbClr val="123957"/>
                </a:solidFill>
                <a:latin typeface="Aptos Bold"/>
                <a:ea typeface="Aptos Bold"/>
                <a:cs typeface="Aptos Bold"/>
                <a:sym typeface="Aptos Bold"/>
              </a:rPr>
              <a:t>Docker sandbox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32813" y="7759417"/>
            <a:ext cx="2726284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1"/>
              </a:lnSpc>
              <a:spcBef>
                <a:spcPct val="0"/>
              </a:spcBef>
            </a:pPr>
            <a:r>
              <a:rPr lang="en-US" sz="2101" u="none" strike="noStrike">
                <a:solidFill>
                  <a:srgbClr val="123957"/>
                </a:solidFill>
                <a:latin typeface="Aptos"/>
                <a:ea typeface="Aptos"/>
                <a:cs typeface="Aptos"/>
                <a:sym typeface="Aptos"/>
              </a:rPr>
              <a:t>Approved tests</a:t>
            </a:r>
          </a:p>
          <a:p>
            <a:pPr marL="0" lvl="0" indent="0" algn="l">
              <a:lnSpc>
                <a:spcPts val="2521"/>
              </a:lnSpc>
              <a:spcBef>
                <a:spcPct val="0"/>
              </a:spcBef>
            </a:pPr>
            <a:r>
              <a:rPr lang="en-US" sz="2101" u="none" strike="noStrike">
                <a:solidFill>
                  <a:srgbClr val="123957"/>
                </a:solidFill>
                <a:latin typeface="Aptos"/>
                <a:ea typeface="Aptos"/>
                <a:cs typeface="Aptos"/>
                <a:sym typeface="Aptos"/>
              </a:rPr>
              <a:t>Isolated, no network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4193812" y="3136173"/>
            <a:ext cx="3450746" cy="2163861"/>
            <a:chOff x="0" y="0"/>
            <a:chExt cx="4600994" cy="288514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600956" cy="2885059"/>
            </a:xfrm>
            <a:custGeom>
              <a:avLst/>
              <a:gdLst/>
              <a:ahLst/>
              <a:cxnLst/>
              <a:rect l="l" t="t" r="r" b="b"/>
              <a:pathLst>
                <a:path w="4600956" h="2885059">
                  <a:moveTo>
                    <a:pt x="0" y="480822"/>
                  </a:moveTo>
                  <a:cubicBezTo>
                    <a:pt x="0" y="215265"/>
                    <a:pt x="215265" y="0"/>
                    <a:pt x="480822" y="0"/>
                  </a:cubicBezTo>
                  <a:lnTo>
                    <a:pt x="4120134" y="0"/>
                  </a:lnTo>
                  <a:cubicBezTo>
                    <a:pt x="4385691" y="0"/>
                    <a:pt x="4600956" y="215265"/>
                    <a:pt x="4600956" y="480822"/>
                  </a:cubicBezTo>
                  <a:lnTo>
                    <a:pt x="4600956" y="2404237"/>
                  </a:lnTo>
                  <a:cubicBezTo>
                    <a:pt x="4600956" y="2669794"/>
                    <a:pt x="4385691" y="2885059"/>
                    <a:pt x="4120134" y="2885059"/>
                  </a:cubicBezTo>
                  <a:lnTo>
                    <a:pt x="480822" y="2885059"/>
                  </a:lnTo>
                  <a:cubicBezTo>
                    <a:pt x="215265" y="2885186"/>
                    <a:pt x="0" y="2669921"/>
                    <a:pt x="0" y="2404237"/>
                  </a:cubicBezTo>
                  <a:close/>
                </a:path>
              </a:pathLst>
            </a:custGeom>
            <a:solidFill>
              <a:srgbClr val="C3E1FA"/>
            </a:solidFill>
            <a:ln w="19065" cap="sq">
              <a:solidFill>
                <a:srgbClr val="A4CBE7"/>
              </a:solidFill>
              <a:prstDash val="solid"/>
              <a:miter/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14413059" y="3336360"/>
            <a:ext cx="3012253" cy="49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1">
                <a:solidFill>
                  <a:srgbClr val="123957"/>
                </a:solidFill>
                <a:latin typeface="Aptos Bold"/>
                <a:ea typeface="Aptos Bold"/>
                <a:cs typeface="Aptos Bold"/>
                <a:sym typeface="Aptos Bold"/>
              </a:rPr>
              <a:t>Groq model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413059" y="3803456"/>
            <a:ext cx="3012253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1"/>
              </a:lnSpc>
              <a:spcBef>
                <a:spcPct val="0"/>
              </a:spcBef>
            </a:pPr>
            <a:r>
              <a:rPr lang="en-US" sz="2101" u="none" strike="noStrike">
                <a:solidFill>
                  <a:srgbClr val="123957"/>
                </a:solidFill>
                <a:latin typeface="Aptos"/>
                <a:ea typeface="Aptos"/>
                <a:cs typeface="Aptos"/>
                <a:sym typeface="Aptos"/>
              </a:rPr>
              <a:t>Proposes tests</a:t>
            </a:r>
          </a:p>
          <a:p>
            <a:pPr marL="0" lvl="0" indent="0" algn="l">
              <a:lnSpc>
                <a:spcPts val="2521"/>
              </a:lnSpc>
              <a:spcBef>
                <a:spcPct val="0"/>
              </a:spcBef>
            </a:pPr>
            <a:r>
              <a:rPr lang="en-US" sz="2101" u="none" strike="noStrike">
                <a:solidFill>
                  <a:srgbClr val="123957"/>
                </a:solidFill>
                <a:latin typeface="Aptos"/>
                <a:ea typeface="Aptos"/>
                <a:cs typeface="Aptos"/>
                <a:sym typeface="Aptos"/>
              </a:rPr>
              <a:t>Explains failures</a:t>
            </a:r>
          </a:p>
          <a:p>
            <a:pPr marL="0" lvl="0" indent="0" algn="l">
              <a:lnSpc>
                <a:spcPts val="2521"/>
              </a:lnSpc>
              <a:spcBef>
                <a:spcPct val="0"/>
              </a:spcBef>
            </a:pPr>
            <a:r>
              <a:rPr lang="en-US" sz="2101" u="none" strike="noStrike">
                <a:solidFill>
                  <a:srgbClr val="123957"/>
                </a:solidFill>
                <a:latin typeface="Aptos"/>
                <a:ea typeface="Aptos"/>
                <a:cs typeface="Aptos"/>
                <a:sym typeface="Aptos"/>
              </a:rPr>
              <a:t>No host execution</a:t>
            </a:r>
          </a:p>
        </p:txBody>
      </p:sp>
      <p:sp>
        <p:nvSpPr>
          <p:cNvPr id="34" name="AutoShape 34"/>
          <p:cNvSpPr/>
          <p:nvPr/>
        </p:nvSpPr>
        <p:spPr>
          <a:xfrm rot="72120" flipV="1">
            <a:off x="3703564" y="4026788"/>
            <a:ext cx="1434233" cy="34872"/>
          </a:xfrm>
          <a:prstGeom prst="line">
            <a:avLst/>
          </a:prstGeom>
          <a:ln w="19050" cap="rnd">
            <a:solidFill>
              <a:srgbClr val="417CA8"/>
            </a:solidFill>
            <a:prstDash val="solid"/>
            <a:headEnd type="triangle" w="lg" len="med"/>
            <a:tailEnd type="triangle" w="lg" len="med"/>
          </a:ln>
        </p:spPr>
      </p:sp>
      <p:sp>
        <p:nvSpPr>
          <p:cNvPr id="35" name="TextBox 35"/>
          <p:cNvSpPr txBox="1"/>
          <p:nvPr/>
        </p:nvSpPr>
        <p:spPr>
          <a:xfrm>
            <a:off x="3812981" y="3574666"/>
            <a:ext cx="1239222" cy="381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23957"/>
                </a:solidFill>
                <a:latin typeface="Aptos"/>
                <a:ea typeface="Aptos"/>
                <a:cs typeface="Aptos"/>
                <a:sym typeface="Aptos"/>
              </a:rPr>
              <a:t>Review</a:t>
            </a:r>
          </a:p>
        </p:txBody>
      </p:sp>
      <p:sp>
        <p:nvSpPr>
          <p:cNvPr id="36" name="AutoShape 36"/>
          <p:cNvSpPr/>
          <p:nvPr/>
        </p:nvSpPr>
        <p:spPr>
          <a:xfrm rot="67380" flipV="1">
            <a:off x="8627086" y="4042373"/>
            <a:ext cx="1396055" cy="36934"/>
          </a:xfrm>
          <a:prstGeom prst="line">
            <a:avLst/>
          </a:prstGeom>
          <a:ln w="19050" cap="rnd">
            <a:solidFill>
              <a:srgbClr val="417CA8"/>
            </a:solidFill>
            <a:prstDash val="solid"/>
            <a:headEnd type="triangle" w="lg" len="med"/>
            <a:tailEnd type="triangle" w="lg" len="med"/>
          </a:ln>
        </p:spPr>
      </p:sp>
      <p:sp>
        <p:nvSpPr>
          <p:cNvPr id="37" name="TextBox 37"/>
          <p:cNvSpPr txBox="1"/>
          <p:nvPr/>
        </p:nvSpPr>
        <p:spPr>
          <a:xfrm>
            <a:off x="8722185" y="3336948"/>
            <a:ext cx="1239222" cy="52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dirty="0">
                <a:solidFill>
                  <a:srgbClr val="123957"/>
                </a:solidFill>
                <a:latin typeface="Aptos"/>
                <a:ea typeface="Aptos"/>
                <a:cs typeface="Aptos"/>
                <a:sym typeface="Aptos"/>
              </a:rPr>
              <a:t>Retrieve</a:t>
            </a:r>
          </a:p>
          <a:p>
            <a:pPr algn="l">
              <a:lnSpc>
                <a:spcPts val="2702"/>
              </a:lnSpc>
            </a:pPr>
            <a:r>
              <a:rPr lang="en-US" sz="2251" dirty="0">
                <a:solidFill>
                  <a:srgbClr val="123957"/>
                </a:solidFill>
                <a:latin typeface="Aptos"/>
                <a:ea typeface="Aptos"/>
                <a:cs typeface="Aptos"/>
                <a:sym typeface="Aptos"/>
              </a:rPr>
              <a:t>evidence</a:t>
            </a:r>
          </a:p>
        </p:txBody>
      </p:sp>
      <p:sp>
        <p:nvSpPr>
          <p:cNvPr id="38" name="AutoShape 38"/>
          <p:cNvSpPr/>
          <p:nvPr/>
        </p:nvSpPr>
        <p:spPr>
          <a:xfrm rot="-5205600">
            <a:off x="6610350" y="2897867"/>
            <a:ext cx="506025" cy="0"/>
          </a:xfrm>
          <a:prstGeom prst="line">
            <a:avLst/>
          </a:prstGeom>
          <a:ln w="19050" cap="rnd">
            <a:solidFill>
              <a:srgbClr val="417CA8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39" name="AutoShape 39"/>
          <p:cNvSpPr/>
          <p:nvPr/>
        </p:nvSpPr>
        <p:spPr>
          <a:xfrm rot="10800">
            <a:off x="6849037" y="2659561"/>
            <a:ext cx="9084469" cy="0"/>
          </a:xfrm>
          <a:prstGeom prst="line">
            <a:avLst/>
          </a:prstGeom>
          <a:ln w="19050" cap="rnd">
            <a:solidFill>
              <a:srgbClr val="417CA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AutoShape 40"/>
          <p:cNvSpPr/>
          <p:nvPr/>
        </p:nvSpPr>
        <p:spPr>
          <a:xfrm rot="5205600">
            <a:off x="15666177" y="2897867"/>
            <a:ext cx="506025" cy="0"/>
          </a:xfrm>
          <a:prstGeom prst="line">
            <a:avLst/>
          </a:prstGeom>
          <a:ln w="19050" cap="rnd">
            <a:solidFill>
              <a:srgbClr val="417CA8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1" name="TextBox 41"/>
          <p:cNvSpPr txBox="1"/>
          <p:nvPr/>
        </p:nvSpPr>
        <p:spPr>
          <a:xfrm>
            <a:off x="9723091" y="2173395"/>
            <a:ext cx="7339984" cy="428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23957"/>
                </a:solidFill>
                <a:latin typeface="Aptos"/>
                <a:ea typeface="Aptos"/>
                <a:cs typeface="Aptos"/>
                <a:sym typeface="Aptos"/>
              </a:rPr>
              <a:t>Selected context and model responses</a:t>
            </a:r>
          </a:p>
        </p:txBody>
      </p:sp>
      <p:sp>
        <p:nvSpPr>
          <p:cNvPr id="42" name="AutoShape 42"/>
          <p:cNvSpPr/>
          <p:nvPr/>
        </p:nvSpPr>
        <p:spPr>
          <a:xfrm rot="10622340">
            <a:off x="4513240" y="4566047"/>
            <a:ext cx="553622" cy="0"/>
          </a:xfrm>
          <a:prstGeom prst="line">
            <a:avLst/>
          </a:prstGeom>
          <a:ln w="19050" cap="rnd">
            <a:solidFill>
              <a:srgbClr val="417CA8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43" name="AutoShape 43"/>
          <p:cNvSpPr/>
          <p:nvPr/>
        </p:nvSpPr>
        <p:spPr>
          <a:xfrm rot="5369940">
            <a:off x="2893038" y="6186564"/>
            <a:ext cx="3269752" cy="0"/>
          </a:xfrm>
          <a:prstGeom prst="line">
            <a:avLst/>
          </a:prstGeom>
          <a:ln w="19050" cap="rnd">
            <a:solidFill>
              <a:srgbClr val="417CA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" name="AutoShape 44"/>
          <p:cNvSpPr/>
          <p:nvPr/>
        </p:nvSpPr>
        <p:spPr>
          <a:xfrm rot="10585440">
            <a:off x="4084206" y="7807081"/>
            <a:ext cx="458448" cy="0"/>
          </a:xfrm>
          <a:prstGeom prst="line">
            <a:avLst/>
          </a:prstGeom>
          <a:ln w="19050" cap="rnd">
            <a:solidFill>
              <a:srgbClr val="417CA8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5" name="AutoShape 45"/>
          <p:cNvSpPr/>
          <p:nvPr/>
        </p:nvSpPr>
        <p:spPr>
          <a:xfrm rot="5236440">
            <a:off x="6515090" y="5519290"/>
            <a:ext cx="601228" cy="0"/>
          </a:xfrm>
          <a:prstGeom prst="line">
            <a:avLst/>
          </a:prstGeom>
          <a:ln w="19050" cap="rnd">
            <a:solidFill>
              <a:srgbClr val="417CA8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6" name="AutoShape 46"/>
          <p:cNvSpPr/>
          <p:nvPr/>
        </p:nvSpPr>
        <p:spPr>
          <a:xfrm rot="35820">
            <a:off x="8564832" y="6348622"/>
            <a:ext cx="2745496" cy="0"/>
          </a:xfrm>
          <a:prstGeom prst="line">
            <a:avLst/>
          </a:prstGeom>
          <a:ln w="19050" cap="rnd">
            <a:solidFill>
              <a:srgbClr val="417CA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" name="AutoShape 47"/>
          <p:cNvSpPr/>
          <p:nvPr/>
        </p:nvSpPr>
        <p:spPr>
          <a:xfrm rot="5272740">
            <a:off x="10909621" y="6720383"/>
            <a:ext cx="772658" cy="0"/>
          </a:xfrm>
          <a:prstGeom prst="line">
            <a:avLst/>
          </a:prstGeom>
          <a:ln w="19050" cap="rnd">
            <a:solidFill>
              <a:srgbClr val="417CA8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8" name="TextBox 48"/>
          <p:cNvSpPr txBox="1"/>
          <p:nvPr/>
        </p:nvSpPr>
        <p:spPr>
          <a:xfrm>
            <a:off x="9341796" y="5881516"/>
            <a:ext cx="3241034" cy="428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23957"/>
                </a:solidFill>
                <a:latin typeface="Aptos"/>
                <a:ea typeface="Aptos"/>
                <a:cs typeface="Aptos"/>
                <a:sym typeface="Aptos"/>
              </a:rPr>
              <a:t>Approved code and source</a:t>
            </a:r>
          </a:p>
        </p:txBody>
      </p:sp>
      <p:sp>
        <p:nvSpPr>
          <p:cNvPr id="49" name="AutoShape 49"/>
          <p:cNvSpPr/>
          <p:nvPr/>
        </p:nvSpPr>
        <p:spPr>
          <a:xfrm rot="10782600">
            <a:off x="4084615" y="7902407"/>
            <a:ext cx="5652811" cy="0"/>
          </a:xfrm>
          <a:prstGeom prst="line">
            <a:avLst/>
          </a:prstGeom>
          <a:ln w="19050" cap="rnd">
            <a:solidFill>
              <a:srgbClr val="417CA8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0" name="TextBox 50"/>
          <p:cNvSpPr txBox="1"/>
          <p:nvPr/>
        </p:nvSpPr>
        <p:spPr>
          <a:xfrm>
            <a:off x="714937" y="9475251"/>
            <a:ext cx="16872433" cy="428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23957"/>
                </a:solidFill>
                <a:latin typeface="Aptos"/>
                <a:ea typeface="Aptos"/>
                <a:cs typeface="Aptos"/>
                <a:sym typeface="Aptos"/>
              </a:rPr>
              <a:t>Human control stays local. Groq receives selected context, not direct access to the sandbox.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4971" y="384353"/>
            <a:ext cx="16609333" cy="295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386F9B"/>
                </a:solidFill>
                <a:latin typeface="Aptos Bold"/>
                <a:ea typeface="Aptos Bold"/>
                <a:cs typeface="Aptos Bold"/>
                <a:sym typeface="Aptos Bold"/>
              </a:rPr>
              <a:t>Successful end-to-end workflow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4971" y="1157249"/>
            <a:ext cx="16609333" cy="151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4"/>
              </a:lnSpc>
            </a:pPr>
            <a:r>
              <a:rPr lang="en-US" sz="5254" b="1">
                <a:solidFill>
                  <a:srgbClr val="113653"/>
                </a:solidFill>
                <a:latin typeface="Georgia Bold"/>
                <a:ea typeface="Georgia Bold"/>
                <a:cs typeface="Georgia Bold"/>
                <a:sym typeface="Georgia Bold"/>
              </a:rPr>
              <a:t>Live demo: one requirement, reviewed tests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09333" y="9718519"/>
            <a:ext cx="892235" cy="343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2718B"/>
                </a:solidFill>
                <a:latin typeface="Aptos"/>
                <a:ea typeface="Aptos"/>
                <a:cs typeface="Aptos"/>
                <a:sym typeface="Aptos"/>
              </a:rPr>
              <a:t>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3608" y="2745343"/>
            <a:ext cx="754971" cy="549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386F9B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15843" y="2745343"/>
            <a:ext cx="4667088" cy="494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113653"/>
                </a:solidFill>
                <a:latin typeface="Aptos Bold"/>
                <a:ea typeface="Aptos Bold"/>
                <a:cs typeface="Aptos Bold"/>
                <a:sym typeface="Aptos Bold"/>
              </a:rPr>
              <a:t>Connect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5843" y="3225784"/>
            <a:ext cx="4872990" cy="576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13653"/>
                </a:solidFill>
                <a:latin typeface="Aptos"/>
                <a:ea typeface="Aptos"/>
                <a:cs typeface="Aptos"/>
                <a:sym typeface="Aptos"/>
              </a:rPr>
              <a:t>Authorized BudgetMe source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3608" y="3816029"/>
            <a:ext cx="754971" cy="549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386F9B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5843" y="3816029"/>
            <a:ext cx="4667088" cy="494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113653"/>
                </a:solidFill>
                <a:latin typeface="Aptos Bold"/>
                <a:ea typeface="Aptos Bold"/>
                <a:cs typeface="Aptos Bold"/>
                <a:sym typeface="Aptos Bold"/>
              </a:rPr>
              <a:t>Specify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15843" y="4296461"/>
            <a:ext cx="4872990" cy="576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13653"/>
                </a:solidFill>
                <a:latin typeface="Aptos"/>
                <a:ea typeface="Aptos"/>
                <a:cs typeface="Aptos"/>
                <a:sym typeface="Aptos"/>
              </a:rPr>
              <a:t>Add the income-limit requirement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3608" y="4886716"/>
            <a:ext cx="754971" cy="549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386F9B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15843" y="4886716"/>
            <a:ext cx="4667088" cy="494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113653"/>
                </a:solidFill>
                <a:latin typeface="Aptos Bold"/>
                <a:ea typeface="Aptos Bold"/>
                <a:cs typeface="Aptos Bold"/>
                <a:sym typeface="Aptos Bold"/>
              </a:rPr>
              <a:t>Review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15843" y="5367147"/>
            <a:ext cx="4872990" cy="576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13653"/>
                </a:solidFill>
                <a:latin typeface="Aptos"/>
                <a:ea typeface="Aptos"/>
                <a:cs typeface="Aptos"/>
                <a:sym typeface="Aptos"/>
              </a:rPr>
              <a:t>Inspect candidate tests and code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3608" y="5957402"/>
            <a:ext cx="754971" cy="549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386F9B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15843" y="5957402"/>
            <a:ext cx="4667088" cy="494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113653"/>
                </a:solidFill>
                <a:latin typeface="Aptos Bold"/>
                <a:ea typeface="Aptos Bold"/>
                <a:cs typeface="Aptos Bold"/>
                <a:sym typeface="Aptos Bold"/>
              </a:rPr>
              <a:t>Approve and run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15843" y="6437833"/>
            <a:ext cx="4872990" cy="576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13653"/>
                </a:solidFill>
                <a:latin typeface="Aptos"/>
                <a:ea typeface="Aptos"/>
                <a:cs typeface="Aptos"/>
                <a:sym typeface="Aptos"/>
              </a:rPr>
              <a:t>Explicit approval, then Docker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3608" y="7028078"/>
            <a:ext cx="754971" cy="549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386F9B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15843" y="7028078"/>
            <a:ext cx="4667088" cy="494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113653"/>
                </a:solidFill>
                <a:latin typeface="Aptos Bold"/>
                <a:ea typeface="Aptos Bold"/>
                <a:cs typeface="Aptos Bold"/>
                <a:sym typeface="Aptos Bold"/>
              </a:rPr>
              <a:t>Inspect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15843" y="7508519"/>
            <a:ext cx="4872990" cy="576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13653"/>
                </a:solidFill>
                <a:latin typeface="Aptos"/>
                <a:ea typeface="Aptos"/>
                <a:cs typeface="Aptos"/>
                <a:sym typeface="Aptos"/>
              </a:rPr>
              <a:t>Results, trace and report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863363" y="2951245"/>
            <a:ext cx="10569578" cy="5029952"/>
            <a:chOff x="0" y="0"/>
            <a:chExt cx="14092771" cy="6706603"/>
          </a:xfrm>
        </p:grpSpPr>
        <p:sp>
          <p:nvSpPr>
            <p:cNvPr id="21" name="Freeform 21" descr="approved-execution.jpg"/>
            <p:cNvSpPr/>
            <p:nvPr/>
          </p:nvSpPr>
          <p:spPr>
            <a:xfrm>
              <a:off x="0" y="0"/>
              <a:ext cx="14092810" cy="6706616"/>
            </a:xfrm>
            <a:custGeom>
              <a:avLst/>
              <a:gdLst/>
              <a:ahLst/>
              <a:cxnLst/>
              <a:rect l="l" t="t" r="r" b="b"/>
              <a:pathLst>
                <a:path w="14092810" h="6706616">
                  <a:moveTo>
                    <a:pt x="0" y="0"/>
                  </a:moveTo>
                  <a:lnTo>
                    <a:pt x="14092810" y="0"/>
                  </a:lnTo>
                  <a:lnTo>
                    <a:pt x="14092810" y="6706616"/>
                  </a:lnTo>
                  <a:lnTo>
                    <a:pt x="0" y="670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96060" y="-2880360"/>
            <a:ext cx="6583680" cy="6583680"/>
          </a:xfrm>
          <a:prstGeom prst="ellipse">
            <a:avLst/>
          </a:prstGeom>
          <a:solidFill>
            <a:srgbClr val="D6E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840480" y="8229600"/>
            <a:ext cx="7818120" cy="4114800"/>
          </a:xfrm>
          <a:prstGeom prst="ellipse">
            <a:avLst/>
          </a:prstGeom>
          <a:solidFill>
            <a:srgbClr val="DBEAFE">
              <a:alpha val="6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81328"/>
            <a:ext cx="16047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350" b="1" dirty="0">
                <a:solidFill>
                  <a:srgbClr val="17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the Evidence Behind the Result</a:t>
            </a:r>
            <a:endParaRPr lang="en-US" sz="4350" dirty="0"/>
          </a:p>
        </p:txBody>
      </p:sp>
      <p:sp>
        <p:nvSpPr>
          <p:cNvPr id="8" name="Shape 6"/>
          <p:cNvSpPr/>
          <p:nvPr/>
        </p:nvSpPr>
        <p:spPr>
          <a:xfrm>
            <a:off x="864108" y="3209544"/>
            <a:ext cx="6871716" cy="5376672"/>
          </a:xfrm>
          <a:prstGeom prst="roundRect">
            <a:avLst>
              <a:gd name="adj" fmla="val 3316"/>
            </a:avLst>
          </a:prstGeom>
          <a:solidFill>
            <a:srgbClr val="FFFFFF"/>
          </a:solidFill>
          <a:ln w="12700">
            <a:solidFill>
              <a:srgbClr val="DD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9304" y="3634740"/>
            <a:ext cx="56921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b="1" kern="0" spc="150" dirty="0">
                <a:solidFill>
                  <a:srgbClr val="437C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VERIFY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289304" y="4251960"/>
            <a:ext cx="672084" cy="644652"/>
          </a:xfrm>
          <a:prstGeom prst="roundRect">
            <a:avLst>
              <a:gd name="adj" fmla="val 27660"/>
            </a:avLst>
          </a:prstGeom>
          <a:solidFill>
            <a:srgbClr val="EDF5FF"/>
          </a:solidFill>
          <a:ln w="12700">
            <a:solidFill>
              <a:srgbClr val="EDF5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05890" y="4453586"/>
            <a:ext cx="4526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lang="en-US" sz="1500" b="1" dirty="0">
                <a:solidFill>
                  <a:srgbClr val="2C6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63140" y="4235501"/>
            <a:ext cx="4992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550" b="1" dirty="0">
                <a:solidFill>
                  <a:srgbClr val="193C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 + test IDs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2263140" y="4697730"/>
            <a:ext cx="48554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25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requirement and tests ran?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1289304" y="5321808"/>
            <a:ext cx="672084" cy="644652"/>
          </a:xfrm>
          <a:prstGeom prst="roundRect">
            <a:avLst>
              <a:gd name="adj" fmla="val 27660"/>
            </a:avLst>
          </a:prstGeom>
          <a:solidFill>
            <a:srgbClr val="EDF5FF"/>
          </a:solidFill>
          <a:ln w="12700">
            <a:solidFill>
              <a:srgbClr val="EDF5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05890" y="5523434"/>
            <a:ext cx="4526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lang="en-US" sz="1500" b="1" dirty="0">
                <a:solidFill>
                  <a:srgbClr val="2C6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263140" y="5305349"/>
            <a:ext cx="4992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550" b="1" dirty="0">
                <a:solidFill>
                  <a:srgbClr val="193C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2263140" y="5767578"/>
            <a:ext cx="48554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25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the reviewed version executed?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289304" y="6391656"/>
            <a:ext cx="672084" cy="644652"/>
          </a:xfrm>
          <a:prstGeom prst="roundRect">
            <a:avLst>
              <a:gd name="adj" fmla="val 27660"/>
            </a:avLst>
          </a:prstGeom>
          <a:solidFill>
            <a:srgbClr val="EDF5FF"/>
          </a:solidFill>
          <a:ln w="12700">
            <a:solidFill>
              <a:srgbClr val="EDF5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05890" y="6593282"/>
            <a:ext cx="4526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lang="en-US" sz="1500" b="1" dirty="0">
                <a:solidFill>
                  <a:srgbClr val="2C6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263140" y="6375197"/>
            <a:ext cx="4992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550" b="1" dirty="0">
                <a:solidFill>
                  <a:srgbClr val="193C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call + test output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2263140" y="6837426"/>
            <a:ext cx="48554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25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did the sandbox actually return?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289304" y="7461504"/>
            <a:ext cx="672084" cy="644652"/>
          </a:xfrm>
          <a:prstGeom prst="roundRect">
            <a:avLst>
              <a:gd name="adj" fmla="val 27660"/>
            </a:avLst>
          </a:prstGeom>
          <a:solidFill>
            <a:srgbClr val="EDF5FF"/>
          </a:solidFill>
          <a:ln w="12700">
            <a:solidFill>
              <a:srgbClr val="EDF5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05890" y="7663130"/>
            <a:ext cx="4526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lang="en-US" sz="1500" b="1" dirty="0">
                <a:solidFill>
                  <a:srgbClr val="2C6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263140" y="7445045"/>
            <a:ext cx="4992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550" b="1" dirty="0">
                <a:solidFill>
                  <a:srgbClr val="193C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→ report link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2263140" y="7907274"/>
            <a:ext cx="48554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25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outcome be traced later?</a:t>
            </a:r>
            <a:endParaRPr lang="en-US" sz="1725" dirty="0"/>
          </a:p>
        </p:txBody>
      </p:sp>
      <p:sp>
        <p:nvSpPr>
          <p:cNvPr id="26" name="Shape 24"/>
          <p:cNvSpPr/>
          <p:nvPr/>
        </p:nvSpPr>
        <p:spPr>
          <a:xfrm>
            <a:off x="8119872" y="3209544"/>
            <a:ext cx="9258300" cy="5376672"/>
          </a:xfrm>
          <a:prstGeom prst="roundRect">
            <a:avLst>
              <a:gd name="adj" fmla="val 3316"/>
            </a:avLst>
          </a:prstGeom>
          <a:solidFill>
            <a:srgbClr val="FBFDFF"/>
          </a:solidFill>
          <a:ln w="12700">
            <a:solidFill>
              <a:srgbClr val="A9C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3621024"/>
            <a:ext cx="8476488" cy="4526280"/>
          </a:xfrm>
          <a:prstGeom prst="rect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88B4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97512" y="4608576"/>
            <a:ext cx="1165860" cy="905256"/>
          </a:xfrm>
          <a:prstGeom prst="rect">
            <a:avLst/>
          </a:prstGeom>
          <a:solidFill>
            <a:srgbClr val="FFFFFF">
              <a:alpha val="0"/>
            </a:srgbClr>
          </a:solidFill>
          <a:ln w="20320">
            <a:solidFill>
              <a:srgbClr val="6292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330684" y="4800600"/>
            <a:ext cx="178308" cy="178308"/>
          </a:xfrm>
          <a:prstGeom prst="ellipse">
            <a:avLst/>
          </a:prstGeom>
          <a:solidFill>
            <a:srgbClr val="6292BB"/>
          </a:solidFill>
          <a:ln w="12700">
            <a:solidFill>
              <a:srgbClr val="6292B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207240" y="5390388"/>
            <a:ext cx="397764" cy="0"/>
          </a:xfrm>
          <a:prstGeom prst="line">
            <a:avLst/>
          </a:prstGeom>
          <a:noFill/>
          <a:ln w="20320">
            <a:solidFill>
              <a:srgbClr val="6292B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577572" y="5102352"/>
            <a:ext cx="480060" cy="315468"/>
          </a:xfrm>
          <a:prstGeom prst="line">
            <a:avLst/>
          </a:prstGeom>
          <a:noFill/>
          <a:ln w="20320">
            <a:solidFill>
              <a:srgbClr val="6292B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15400" y="6035040"/>
            <a:ext cx="769467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550" b="1" dirty="0">
                <a:solidFill>
                  <a:srgbClr val="2D5D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YOUR EXECUTION SCREENSHOT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8887968" y="6775704"/>
            <a:ext cx="76946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dirty="0">
                <a:solidFill>
                  <a:srgbClr val="6B84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logs  •  Docker test results  •  Agent trace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956548" y="7338060"/>
            <a:ext cx="75575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575" dirty="0">
                <a:solidFill>
                  <a:srgbClr val="8197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an actual captured run, with sensitive details hidden.</a:t>
            </a:r>
            <a:endParaRPr lang="en-US" sz="1575" dirty="0"/>
          </a:p>
        </p:txBody>
      </p:sp>
      <p:sp>
        <p:nvSpPr>
          <p:cNvPr id="35" name="Shape 33"/>
          <p:cNvSpPr/>
          <p:nvPr/>
        </p:nvSpPr>
        <p:spPr>
          <a:xfrm>
            <a:off x="850392" y="9148572"/>
            <a:ext cx="16527780" cy="0"/>
          </a:xfrm>
          <a:prstGeom prst="line">
            <a:avLst/>
          </a:prstGeom>
          <a:noFill/>
          <a:ln w="12700">
            <a:solidFill>
              <a:srgbClr val="C7D9ED"/>
            </a:solidFill>
            <a:prstDash val="solid"/>
          </a:ln>
        </p:spPr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1761F6D-8CA0-0A58-9FB1-56E802D69E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6448"/>
          <a:stretch/>
        </p:blipFill>
        <p:spPr>
          <a:xfrm>
            <a:off x="8524494" y="3621025"/>
            <a:ext cx="8476488" cy="4526280"/>
          </a:xfrm>
          <a:prstGeom prst="rect">
            <a:avLst/>
          </a:prstGeom>
        </p:spPr>
      </p:pic>
      <p:sp>
        <p:nvSpPr>
          <p:cNvPr id="36" name="Text 34"/>
          <p:cNvSpPr/>
          <p:nvPr/>
        </p:nvSpPr>
        <p:spPr>
          <a:xfrm>
            <a:off x="891540" y="9354312"/>
            <a:ext cx="15361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950" b="1" dirty="0">
                <a:solidFill>
                  <a:srgbClr val="315E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proposed test becomes evidence only after an actual recorded execution.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2780639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5654842" y="634055"/>
            <a:ext cx="12633158" cy="9652945"/>
          </a:xfrm>
          <a:custGeom>
            <a:avLst/>
            <a:gdLst/>
            <a:ahLst/>
            <a:cxnLst/>
            <a:rect l="l" t="t" r="r" b="b"/>
            <a:pathLst>
              <a:path w="12633158" h="9652945">
                <a:moveTo>
                  <a:pt x="0" y="0"/>
                </a:moveTo>
                <a:lnTo>
                  <a:pt x="12633158" y="0"/>
                </a:lnTo>
                <a:lnTo>
                  <a:pt x="12633158" y="9652945"/>
                </a:lnTo>
                <a:lnTo>
                  <a:pt x="0" y="9652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40487" y="1189920"/>
            <a:ext cx="8997400" cy="2257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70"/>
              </a:lnSpc>
            </a:pPr>
            <a:r>
              <a:rPr lang="en-US" sz="8770" b="1" dirty="0">
                <a:solidFill>
                  <a:srgbClr val="082A51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 A Real Limitation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2569017"/>
            <a:ext cx="6114230" cy="218640"/>
          </a:xfrm>
          <a:custGeom>
            <a:avLst/>
            <a:gdLst/>
            <a:ahLst/>
            <a:cxnLst/>
            <a:rect l="l" t="t" r="r" b="b"/>
            <a:pathLst>
              <a:path w="6114230" h="218640">
                <a:moveTo>
                  <a:pt x="0" y="0"/>
                </a:moveTo>
                <a:lnTo>
                  <a:pt x="6114230" y="0"/>
                </a:lnTo>
                <a:lnTo>
                  <a:pt x="611423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22006" y="3358658"/>
            <a:ext cx="4832836" cy="5937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21"/>
              </a:lnSpc>
            </a:pPr>
            <a:r>
              <a:rPr lang="en-US" sz="3863" b="1" dirty="0">
                <a:solidFill>
                  <a:srgbClr val="BD2B26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Groq HTTP 413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3953" y="4030951"/>
            <a:ext cx="5329659" cy="79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2471">
                <a:solidFill>
                  <a:srgbClr val="082A51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The model provider rejected an</a:t>
            </a:r>
          </a:p>
          <a:p>
            <a:pPr algn="l">
              <a:lnSpc>
                <a:spcPts val="3211"/>
              </a:lnSpc>
            </a:pPr>
            <a:r>
              <a:rPr lang="en-US" sz="2471">
                <a:solidFill>
                  <a:srgbClr val="082A51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oversized project knowledge request.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6570" y="5401584"/>
            <a:ext cx="7976429" cy="546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38"/>
              </a:lnSpc>
            </a:pPr>
            <a:r>
              <a:rPr lang="en-US" sz="3568" b="1" dirty="0">
                <a:solidFill>
                  <a:srgbClr val="082A51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We engineered a bounded context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6219" y="5999754"/>
            <a:ext cx="7103136" cy="850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>
                <a:solidFill>
                  <a:srgbClr val="082A51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src/app.py now bounds serialized project context and trims lower-priority records.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2612" y="7540224"/>
            <a:ext cx="6463780" cy="564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8"/>
              </a:lnSpc>
            </a:pPr>
            <a:r>
              <a:rPr lang="en-US" sz="3568" b="1">
                <a:solidFill>
                  <a:srgbClr val="082A51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Independently verified </a:t>
            </a:r>
            <a:r>
              <a:rPr lang="en-US" sz="3568" b="1">
                <a:solidFill>
                  <a:srgbClr val="BD2B26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success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0487" y="8657825"/>
            <a:ext cx="5592052" cy="878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2418" dirty="0">
                <a:solidFill>
                  <a:srgbClr val="082A51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RAG retrieval returned 3 passages.</a:t>
            </a:r>
          </a:p>
          <a:p>
            <a:pPr algn="l">
              <a:lnSpc>
                <a:spcPts val="3628"/>
              </a:lnSpc>
            </a:pPr>
            <a:r>
              <a:rPr lang="en-US" sz="2418" dirty="0">
                <a:solidFill>
                  <a:srgbClr val="082A51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Model answered in 1428.9 </a:t>
            </a:r>
            <a:r>
              <a:rPr lang="en-US" sz="2418" dirty="0" err="1">
                <a:solidFill>
                  <a:srgbClr val="082A51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ms.</a:t>
            </a:r>
            <a:endParaRPr lang="en-US" sz="2418" dirty="0">
              <a:solidFill>
                <a:srgbClr val="082A51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</p:spTree>
    <p:extLst>
      <p:ext uri="{BB962C8B-B14F-4D97-AF65-F5344CB8AC3E}">
        <p14:creationId xmlns:p14="http://schemas.microsoft.com/office/powerpoint/2010/main" val="1330722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403464" y="0"/>
            <a:ext cx="5884536" cy="9652945"/>
          </a:xfrm>
          <a:custGeom>
            <a:avLst/>
            <a:gdLst/>
            <a:ahLst/>
            <a:cxnLst/>
            <a:rect l="l" t="t" r="r" b="b"/>
            <a:pathLst>
              <a:path w="5884536" h="9652945">
                <a:moveTo>
                  <a:pt x="0" y="0"/>
                </a:moveTo>
                <a:lnTo>
                  <a:pt x="5884536" y="0"/>
                </a:lnTo>
                <a:lnTo>
                  <a:pt x="5884536" y="9652945"/>
                </a:lnTo>
                <a:lnTo>
                  <a:pt x="0" y="9652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72291" y="895331"/>
            <a:ext cx="10529671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49"/>
              </a:lnSpc>
            </a:pPr>
            <a:r>
              <a:rPr lang="en-US" sz="7083" b="1" dirty="0">
                <a:solidFill>
                  <a:srgbClr val="08264B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 Controlled Recovery Without Unsafe Actions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2400" y="3841911"/>
            <a:ext cx="5163878" cy="987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7"/>
              </a:lnSpc>
            </a:pPr>
            <a:r>
              <a:rPr lang="en-US" sz="2784" dirty="0">
                <a:solidFill>
                  <a:srgbClr val="08264B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A retrieval fault was injected to validate bounded recovery behavior.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1052" y="5345904"/>
            <a:ext cx="5246573" cy="987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7"/>
              </a:lnSpc>
            </a:pPr>
            <a:r>
              <a:rPr lang="en-US" sz="2784" dirty="0">
                <a:solidFill>
                  <a:srgbClr val="08264B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The next retrieval returned real, project-bound evidence.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6087" y="6613106"/>
            <a:ext cx="5795202" cy="987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7"/>
              </a:lnSpc>
            </a:pPr>
            <a:r>
              <a:rPr lang="en-US" sz="2784">
                <a:solidFill>
                  <a:srgbClr val="08264B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A local issue draft was created and retained for review.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5990" y="8044188"/>
            <a:ext cx="5804919" cy="1019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6"/>
              </a:lnSpc>
            </a:pPr>
            <a:r>
              <a:rPr lang="en-US" sz="2900" b="1" dirty="0">
                <a:solidFill>
                  <a:srgbClr val="08264B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This is a </a:t>
            </a:r>
            <a:r>
              <a:rPr lang="en-US" sz="2900" b="1" dirty="0">
                <a:solidFill>
                  <a:srgbClr val="B82929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synthetic test</a:t>
            </a:r>
            <a:r>
              <a:rPr lang="en-US" sz="2900" b="1" dirty="0">
                <a:solidFill>
                  <a:srgbClr val="08264B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, not a confirmed product bug.</a:t>
            </a:r>
          </a:p>
        </p:txBody>
      </p:sp>
      <p:sp>
        <p:nvSpPr>
          <p:cNvPr id="10" name="Freeform 10"/>
          <p:cNvSpPr/>
          <p:nvPr/>
        </p:nvSpPr>
        <p:spPr>
          <a:xfrm>
            <a:off x="7612708" y="3214004"/>
            <a:ext cx="4582938" cy="1934962"/>
          </a:xfrm>
          <a:custGeom>
            <a:avLst/>
            <a:gdLst/>
            <a:ahLst/>
            <a:cxnLst/>
            <a:rect l="l" t="t" r="r" b="b"/>
            <a:pathLst>
              <a:path w="4582938" h="1934962">
                <a:moveTo>
                  <a:pt x="0" y="0"/>
                </a:moveTo>
                <a:lnTo>
                  <a:pt x="4582938" y="0"/>
                </a:lnTo>
                <a:lnTo>
                  <a:pt x="458293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625956" y="3749944"/>
            <a:ext cx="2775197" cy="403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4"/>
              </a:lnSpc>
            </a:pPr>
            <a:r>
              <a:rPr lang="en-US" sz="2320" b="1" dirty="0">
                <a:solidFill>
                  <a:srgbClr val="08264B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Injected retrieval failure</a:t>
            </a:r>
          </a:p>
        </p:txBody>
      </p:sp>
      <p:sp>
        <p:nvSpPr>
          <p:cNvPr id="13" name="Freeform 13"/>
          <p:cNvSpPr/>
          <p:nvPr/>
        </p:nvSpPr>
        <p:spPr>
          <a:xfrm>
            <a:off x="9789330" y="4919394"/>
            <a:ext cx="448450" cy="448211"/>
          </a:xfrm>
          <a:custGeom>
            <a:avLst/>
            <a:gdLst/>
            <a:ahLst/>
            <a:cxnLst/>
            <a:rect l="l" t="t" r="r" b="b"/>
            <a:pathLst>
              <a:path w="448450" h="448211">
                <a:moveTo>
                  <a:pt x="0" y="0"/>
                </a:moveTo>
                <a:lnTo>
                  <a:pt x="448450" y="0"/>
                </a:lnTo>
                <a:lnTo>
                  <a:pt x="448450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612708" y="5138034"/>
            <a:ext cx="4582938" cy="1934962"/>
          </a:xfrm>
          <a:custGeom>
            <a:avLst/>
            <a:gdLst/>
            <a:ahLst/>
            <a:cxnLst/>
            <a:rect l="l" t="t" r="r" b="b"/>
            <a:pathLst>
              <a:path w="4582938" h="1934962">
                <a:moveTo>
                  <a:pt x="0" y="0"/>
                </a:moveTo>
                <a:lnTo>
                  <a:pt x="4582938" y="0"/>
                </a:lnTo>
                <a:lnTo>
                  <a:pt x="458293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324611" y="5566058"/>
            <a:ext cx="3159131" cy="781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sz="2210" b="1" dirty="0">
                <a:solidFill>
                  <a:srgbClr val="08264B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Next retrieval obtained</a:t>
            </a:r>
          </a:p>
          <a:p>
            <a:pPr algn="ctr">
              <a:lnSpc>
                <a:spcPts val="3205"/>
              </a:lnSpc>
            </a:pPr>
            <a:r>
              <a:rPr lang="en-US" sz="2210" b="1" dirty="0">
                <a:solidFill>
                  <a:srgbClr val="08264B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real project-bound evidence</a:t>
            </a:r>
          </a:p>
        </p:txBody>
      </p:sp>
      <p:sp>
        <p:nvSpPr>
          <p:cNvPr id="16" name="Freeform 16"/>
          <p:cNvSpPr/>
          <p:nvPr/>
        </p:nvSpPr>
        <p:spPr>
          <a:xfrm>
            <a:off x="9789330" y="6854356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612708" y="7062064"/>
            <a:ext cx="4582938" cy="2372241"/>
          </a:xfrm>
          <a:custGeom>
            <a:avLst/>
            <a:gdLst/>
            <a:ahLst/>
            <a:cxnLst/>
            <a:rect l="l" t="t" r="r" b="b"/>
            <a:pathLst>
              <a:path w="4582938" h="2372241">
                <a:moveTo>
                  <a:pt x="0" y="0"/>
                </a:moveTo>
                <a:lnTo>
                  <a:pt x="4582938" y="0"/>
                </a:lnTo>
                <a:lnTo>
                  <a:pt x="458293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479511" y="7812557"/>
            <a:ext cx="2869706" cy="781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sz="2210" b="1" dirty="0">
                <a:solidFill>
                  <a:srgbClr val="08264B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Local issue draft retained</a:t>
            </a:r>
          </a:p>
          <a:p>
            <a:pPr algn="ctr">
              <a:lnSpc>
                <a:spcPts val="3205"/>
              </a:lnSpc>
            </a:pPr>
            <a:r>
              <a:rPr lang="en-US" sz="2210" b="1" dirty="0">
                <a:solidFill>
                  <a:srgbClr val="08264B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for review</a:t>
            </a:r>
          </a:p>
        </p:txBody>
      </p:sp>
    </p:spTree>
    <p:extLst>
      <p:ext uri="{BB962C8B-B14F-4D97-AF65-F5344CB8AC3E}">
        <p14:creationId xmlns:p14="http://schemas.microsoft.com/office/powerpoint/2010/main" val="3036408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2839857" y="-833448"/>
            <a:ext cx="5180288" cy="11908709"/>
          </a:xfrm>
          <a:custGeom>
            <a:avLst/>
            <a:gdLst/>
            <a:ahLst/>
            <a:cxnLst/>
            <a:rect l="l" t="t" r="r" b="b"/>
            <a:pathLst>
              <a:path w="5180288" h="11908709">
                <a:moveTo>
                  <a:pt x="0" y="0"/>
                </a:moveTo>
                <a:lnTo>
                  <a:pt x="5180288" y="0"/>
                </a:lnTo>
                <a:lnTo>
                  <a:pt x="5180288" y="11908708"/>
                </a:lnTo>
                <a:lnTo>
                  <a:pt x="0" y="11908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72292" y="895331"/>
            <a:ext cx="8495808" cy="2060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43"/>
              </a:lnSpc>
            </a:pPr>
            <a:r>
              <a:rPr lang="en-US" sz="7079" b="1" dirty="0">
                <a:solidFill>
                  <a:srgbClr val="08264B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Guardrails and Human Control</a:t>
            </a:r>
          </a:p>
        </p:txBody>
      </p:sp>
      <p:sp>
        <p:nvSpPr>
          <p:cNvPr id="5" name="Freeform 5"/>
          <p:cNvSpPr/>
          <p:nvPr/>
        </p:nvSpPr>
        <p:spPr>
          <a:xfrm>
            <a:off x="864086" y="3214004"/>
            <a:ext cx="5895474" cy="218640"/>
          </a:xfrm>
          <a:custGeom>
            <a:avLst/>
            <a:gdLst/>
            <a:ahLst/>
            <a:cxnLst/>
            <a:rect l="l" t="t" r="r" b="b"/>
            <a:pathLst>
              <a:path w="5895474" h="218640">
                <a:moveTo>
                  <a:pt x="0" y="0"/>
                </a:moveTo>
                <a:lnTo>
                  <a:pt x="5895474" y="0"/>
                </a:lnTo>
                <a:lnTo>
                  <a:pt x="589547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32400" y="3870486"/>
            <a:ext cx="5163878" cy="665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66"/>
              </a:lnSpc>
            </a:pPr>
            <a:r>
              <a:rPr lang="en-US" sz="1907">
                <a:solidFill>
                  <a:srgbClr val="08264B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BEFORE execution: approve cases and executable code; cryptographic hashes bind approved source and code.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1573" y="5256084"/>
            <a:ext cx="5246573" cy="665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66"/>
              </a:lnSpc>
            </a:pPr>
            <a:r>
              <a:rPr lang="en-US" sz="1907">
                <a:solidFill>
                  <a:srgbClr val="08264B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DURING execution: allow-listed tools only, Docker isolation, no network access, iteration limits, safe stop and handoff.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6087" y="6641681"/>
            <a:ext cx="5795202" cy="665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66"/>
              </a:lnSpc>
            </a:pPr>
            <a:r>
              <a:rPr lang="en-US" sz="1907">
                <a:solidFill>
                  <a:srgbClr val="08264B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AFTER execution: reports and issue drafts require human review. No automatic publishing or merges permitted.</a:t>
            </a:r>
          </a:p>
        </p:txBody>
      </p:sp>
      <p:sp>
        <p:nvSpPr>
          <p:cNvPr id="10" name="Freeform 10"/>
          <p:cNvSpPr/>
          <p:nvPr/>
        </p:nvSpPr>
        <p:spPr>
          <a:xfrm>
            <a:off x="8255337" y="1666522"/>
            <a:ext cx="3812227" cy="2063368"/>
          </a:xfrm>
          <a:custGeom>
            <a:avLst/>
            <a:gdLst/>
            <a:ahLst/>
            <a:cxnLst/>
            <a:rect l="l" t="t" r="r" b="b"/>
            <a:pathLst>
              <a:path w="3812227" h="2063368">
                <a:moveTo>
                  <a:pt x="0" y="0"/>
                </a:moveTo>
                <a:lnTo>
                  <a:pt x="3812227" y="0"/>
                </a:lnTo>
                <a:lnTo>
                  <a:pt x="3812227" y="2063368"/>
                </a:lnTo>
                <a:lnTo>
                  <a:pt x="0" y="2063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576925" y="1995633"/>
            <a:ext cx="3169049" cy="38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65"/>
              </a:lnSpc>
            </a:pPr>
            <a:r>
              <a:rPr lang="en-US" sz="2182" b="1" dirty="0">
                <a:solidFill>
                  <a:srgbClr val="B82929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BEFORE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99867" y="2426492"/>
            <a:ext cx="2775197" cy="267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5"/>
              </a:lnSpc>
            </a:pPr>
            <a:r>
              <a:rPr lang="en-US" sz="1589" b="1" dirty="0">
                <a:solidFill>
                  <a:srgbClr val="08264B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Approve cases </a:t>
            </a:r>
          </a:p>
        </p:txBody>
      </p:sp>
      <p:sp>
        <p:nvSpPr>
          <p:cNvPr id="13" name="Freeform 13"/>
          <p:cNvSpPr/>
          <p:nvPr/>
        </p:nvSpPr>
        <p:spPr>
          <a:xfrm>
            <a:off x="9968933" y="3865650"/>
            <a:ext cx="276878" cy="337499"/>
          </a:xfrm>
          <a:custGeom>
            <a:avLst/>
            <a:gdLst/>
            <a:ahLst/>
            <a:cxnLst/>
            <a:rect l="l" t="t" r="r" b="b"/>
            <a:pathLst>
              <a:path w="276878" h="337499">
                <a:moveTo>
                  <a:pt x="0" y="0"/>
                </a:moveTo>
                <a:lnTo>
                  <a:pt x="276878" y="0"/>
                </a:lnTo>
                <a:lnTo>
                  <a:pt x="276878" y="337499"/>
                </a:lnTo>
                <a:lnTo>
                  <a:pt x="0" y="3374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255337" y="4325762"/>
            <a:ext cx="3822555" cy="2002063"/>
          </a:xfrm>
          <a:custGeom>
            <a:avLst/>
            <a:gdLst/>
            <a:ahLst/>
            <a:cxnLst/>
            <a:rect l="l" t="t" r="r" b="b"/>
            <a:pathLst>
              <a:path w="3822555" h="2002063">
                <a:moveTo>
                  <a:pt x="0" y="0"/>
                </a:moveTo>
                <a:lnTo>
                  <a:pt x="3822555" y="0"/>
                </a:lnTo>
                <a:lnTo>
                  <a:pt x="3822555" y="2002063"/>
                </a:lnTo>
                <a:lnTo>
                  <a:pt x="0" y="20020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666245" y="4730584"/>
            <a:ext cx="3159131" cy="52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96"/>
              </a:lnSpc>
            </a:pPr>
            <a:r>
              <a:rPr lang="en-US" sz="1514" b="1" dirty="0">
                <a:solidFill>
                  <a:srgbClr val="08264B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DURING</a:t>
            </a:r>
          </a:p>
          <a:p>
            <a:pPr marL="0" lvl="0" indent="0" algn="ctr">
              <a:lnSpc>
                <a:spcPts val="2196"/>
              </a:lnSpc>
            </a:pPr>
            <a:r>
              <a:rPr lang="en-US" sz="1514" b="1" dirty="0">
                <a:solidFill>
                  <a:srgbClr val="08264B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Docker isolated · no network</a:t>
            </a:r>
          </a:p>
        </p:txBody>
      </p:sp>
      <p:sp>
        <p:nvSpPr>
          <p:cNvPr id="16" name="Freeform 16"/>
          <p:cNvSpPr/>
          <p:nvPr/>
        </p:nvSpPr>
        <p:spPr>
          <a:xfrm>
            <a:off x="9968933" y="6456212"/>
            <a:ext cx="316547" cy="402390"/>
          </a:xfrm>
          <a:custGeom>
            <a:avLst/>
            <a:gdLst/>
            <a:ahLst/>
            <a:cxnLst/>
            <a:rect l="l" t="t" r="r" b="b"/>
            <a:pathLst>
              <a:path w="316547" h="402390">
                <a:moveTo>
                  <a:pt x="0" y="0"/>
                </a:moveTo>
                <a:lnTo>
                  <a:pt x="316547" y="0"/>
                </a:lnTo>
                <a:lnTo>
                  <a:pt x="316547" y="402390"/>
                </a:lnTo>
                <a:lnTo>
                  <a:pt x="0" y="4023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214941" y="6992429"/>
            <a:ext cx="3829042" cy="2268708"/>
          </a:xfrm>
          <a:custGeom>
            <a:avLst/>
            <a:gdLst/>
            <a:ahLst/>
            <a:cxnLst/>
            <a:rect l="l" t="t" r="r" b="b"/>
            <a:pathLst>
              <a:path w="3829042" h="2268708">
                <a:moveTo>
                  <a:pt x="0" y="0"/>
                </a:moveTo>
                <a:lnTo>
                  <a:pt x="3829043" y="0"/>
                </a:lnTo>
                <a:lnTo>
                  <a:pt x="3829043" y="2268708"/>
                </a:lnTo>
                <a:lnTo>
                  <a:pt x="0" y="22687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705358" y="7639836"/>
            <a:ext cx="2869706" cy="52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96"/>
              </a:lnSpc>
            </a:pPr>
            <a:r>
              <a:rPr lang="en-US" sz="1514" b="1" dirty="0">
                <a:solidFill>
                  <a:srgbClr val="08264B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AFTER</a:t>
            </a:r>
          </a:p>
          <a:p>
            <a:pPr marL="0" lvl="0" indent="0" algn="ctr">
              <a:lnSpc>
                <a:spcPts val="2196"/>
              </a:lnSpc>
            </a:pPr>
            <a:r>
              <a:rPr lang="en-US" sz="1514" b="1" dirty="0">
                <a:solidFill>
                  <a:srgbClr val="08264B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Review reports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00844" y="8372496"/>
            <a:ext cx="1813056" cy="292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5"/>
              </a:lnSpc>
            </a:pPr>
            <a:r>
              <a:rPr lang="en-US" sz="1589" b="1" dirty="0">
                <a:solidFill>
                  <a:srgbClr val="B82929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no auto-publish</a:t>
            </a:r>
          </a:p>
        </p:txBody>
      </p:sp>
    </p:spTree>
    <p:extLst>
      <p:ext uri="{BB962C8B-B14F-4D97-AF65-F5344CB8AC3E}">
        <p14:creationId xmlns:p14="http://schemas.microsoft.com/office/powerpoint/2010/main" val="2110784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18807" y="827824"/>
            <a:ext cx="15058724" cy="9480023"/>
          </a:xfrm>
          <a:custGeom>
            <a:avLst/>
            <a:gdLst/>
            <a:ahLst/>
            <a:cxnLst/>
            <a:rect l="l" t="t" r="r" b="b"/>
            <a:pathLst>
              <a:path w="15058724" h="9480023">
                <a:moveTo>
                  <a:pt x="0" y="0"/>
                </a:moveTo>
                <a:lnTo>
                  <a:pt x="15058724" y="0"/>
                </a:lnTo>
                <a:lnTo>
                  <a:pt x="15058724" y="9480023"/>
                </a:lnTo>
                <a:lnTo>
                  <a:pt x="0" y="9480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40487" y="1132770"/>
            <a:ext cx="8997400" cy="148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80"/>
              </a:lnSpc>
            </a:pPr>
            <a:r>
              <a:rPr lang="en-US" sz="5780" b="1" dirty="0">
                <a:solidFill>
                  <a:srgbClr val="082A51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Lessons and Honest Limits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7181" y="2777307"/>
            <a:ext cx="3524445" cy="62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18"/>
              </a:lnSpc>
            </a:pPr>
            <a:r>
              <a:rPr lang="en-US" sz="3860" b="1" dirty="0">
                <a:solidFill>
                  <a:srgbClr val="BD2B26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Three Lessons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7181" y="3450556"/>
            <a:ext cx="5329659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l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82A51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Proposals are not results: model output requires human validation before any claim is made.</a:t>
            </a:r>
          </a:p>
          <a:p>
            <a:pPr marL="342900" lvl="0" indent="-342900" algn="l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82A51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Project-scoped retrieval matters: bounded context improves relevance and prevents overreach. </a:t>
            </a:r>
          </a:p>
          <a:p>
            <a:pPr marL="342900" lvl="0" indent="-342900" algn="l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82A51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Approvals, failures, and evidence must be inspectable: every step must leave an auditable trace.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45176" y="2620357"/>
            <a:ext cx="7067904" cy="57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34"/>
              </a:lnSpc>
            </a:pPr>
            <a:r>
              <a:rPr lang="en-US" sz="3565" b="1" dirty="0">
                <a:solidFill>
                  <a:srgbClr val="082A51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Three Honest Limitations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11853" y="3358228"/>
            <a:ext cx="6252068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82A51"/>
                </a:solidFill>
                <a:latin typeface="Archivo Narrow"/>
                <a:sym typeface="Archivo Narrow"/>
              </a:rPr>
              <a:t>Incomplete answers remain possible under ambiguous or underspecified requirements. </a:t>
            </a:r>
          </a:p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82A51"/>
                </a:solidFill>
                <a:latin typeface="Archivo Narrow"/>
                <a:sym typeface="Archivo Narrow"/>
              </a:rPr>
              <a:t>Generated test code requires developer review before execution ,it is a proposal, not a guarantee.</a:t>
            </a:r>
          </a:p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82A51"/>
                </a:solidFill>
                <a:latin typeface="Archivo Narrow"/>
                <a:sym typeface="Archivo Narrow"/>
              </a:rPr>
              <a:t>API quotas and prepared adapters constrain real-time use offline fallbacks are partial mitigations.</a:t>
            </a:r>
          </a:p>
        </p:txBody>
      </p:sp>
    </p:spTree>
    <p:extLst>
      <p:ext uri="{BB962C8B-B14F-4D97-AF65-F5344CB8AC3E}">
        <p14:creationId xmlns:p14="http://schemas.microsoft.com/office/powerpoint/2010/main" val="3489688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728</Words>
  <Application>Microsoft Office PowerPoint</Application>
  <PresentationFormat>Custom</PresentationFormat>
  <Paragraphs>153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6" baseType="lpstr">
      <vt:lpstr>Agrandir Tight</vt:lpstr>
      <vt:lpstr>Boston Angel</vt:lpstr>
      <vt:lpstr>Aptos</vt:lpstr>
      <vt:lpstr>DM Sans</vt:lpstr>
      <vt:lpstr>DM Sans Bold</vt:lpstr>
      <vt:lpstr>Archivo Narrow Bold</vt:lpstr>
      <vt:lpstr>Arial</vt:lpstr>
      <vt:lpstr>Aptos Bold</vt:lpstr>
      <vt:lpstr>Wingdings</vt:lpstr>
      <vt:lpstr>Tex Gyre Termes</vt:lpstr>
      <vt:lpstr>Calibri</vt:lpstr>
      <vt:lpstr>Georgia Bold</vt:lpstr>
      <vt:lpstr>Tex Gyre Termes Bold</vt:lpstr>
      <vt:lpstr>Inter Medium</vt:lpstr>
      <vt:lpstr>Archivo Narrow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QA</dc:title>
  <dc:creator>Joyce Angom</dc:creator>
  <cp:lastModifiedBy>Joyce Angom</cp:lastModifiedBy>
  <cp:revision>5</cp:revision>
  <dcterms:created xsi:type="dcterms:W3CDTF">2006-08-16T00:00:00Z</dcterms:created>
  <dcterms:modified xsi:type="dcterms:W3CDTF">2026-10-23T18:53:25Z</dcterms:modified>
  <dc:identifier>DAHY1L3eFRk</dc:identifier>
</cp:coreProperties>
</file>